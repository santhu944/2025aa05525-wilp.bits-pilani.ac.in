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9" r:id="rId3"/>
  </p:sldMasterIdLst>
  <p:notesMasterIdLst>
    <p:notesMasterId r:id="rId52"/>
  </p:notesMasterIdLst>
  <p:sldIdLst>
    <p:sldId id="256" r:id="rId4"/>
    <p:sldId id="389" r:id="rId5"/>
    <p:sldId id="257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259" r:id="rId15"/>
    <p:sldId id="260" r:id="rId16"/>
    <p:sldId id="287" r:id="rId17"/>
    <p:sldId id="289" r:id="rId18"/>
    <p:sldId id="409" r:id="rId19"/>
    <p:sldId id="410" r:id="rId20"/>
    <p:sldId id="411" r:id="rId21"/>
    <p:sldId id="412" r:id="rId22"/>
    <p:sldId id="261" r:id="rId23"/>
    <p:sldId id="288" r:id="rId24"/>
    <p:sldId id="263" r:id="rId25"/>
    <p:sldId id="264" r:id="rId26"/>
    <p:sldId id="290" r:id="rId27"/>
    <p:sldId id="385" r:id="rId28"/>
    <p:sldId id="386" r:id="rId29"/>
    <p:sldId id="387" r:id="rId30"/>
    <p:sldId id="265" r:id="rId31"/>
    <p:sldId id="258" r:id="rId32"/>
    <p:sldId id="388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6" r:id="rId42"/>
    <p:sldId id="277" r:id="rId43"/>
    <p:sldId id="278" r:id="rId44"/>
    <p:sldId id="279" r:id="rId45"/>
    <p:sldId id="280" r:id="rId46"/>
    <p:sldId id="399" r:id="rId47"/>
    <p:sldId id="400" r:id="rId48"/>
    <p:sldId id="413" r:id="rId49"/>
    <p:sldId id="414" r:id="rId50"/>
    <p:sldId id="415" r:id="rId5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153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7D8E1-322F-43B7-879D-4851E16BBE1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AFC03-066D-4C2C-B9B6-9B255AB8B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69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99853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0728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1484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62043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marL="0" lvl="0" indent="0" algn="l" defTabSz="461040" rtl="0" eaLnBrk="1" latinLnBrk="0" hangingPunct="1">
              <a:lnSpc>
                <a:spcPct val="90000"/>
              </a:lnSpc>
              <a:spcBef>
                <a:spcPts val="908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3634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0665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2826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8449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 dirty="0"/>
              <a:t>Click icon </a:t>
            </a:r>
            <a:r>
              <a:rPr lang="en-US"/>
              <a:t>to add </a:t>
            </a:r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63058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156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803333" y="87744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51648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5678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291498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1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1462" spc="-76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754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6266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16685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6892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38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98776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  <a:endParaRPr lang="en-US" sz="555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9362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>
                <a:solidFill>
                  <a:srgbClr val="101141"/>
                </a:solidFill>
                <a:latin typeface="Arial"/>
                <a:cs typeface="Arial"/>
              </a:rPr>
              <a:t>Campus</a:t>
            </a:r>
            <a:endParaRPr lang="en-US" sz="454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798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562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46381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29970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25273380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2108449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30179691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18288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5887432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38584473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37106016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 dirty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Campus</a:t>
            </a:r>
          </a:p>
        </p:txBody>
      </p:sp>
    </p:spTree>
    <p:extLst>
      <p:ext uri="{BB962C8B-B14F-4D97-AF65-F5344CB8AC3E}">
        <p14:creationId xmlns:p14="http://schemas.microsoft.com/office/powerpoint/2010/main" val="287131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6557" y="623886"/>
            <a:ext cx="3902710" cy="2370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7249" y="3265309"/>
            <a:ext cx="814535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AAOC </a:t>
            </a:r>
            <a:r>
              <a:rPr lang="en-US"/>
              <a:t>ZC222 Optimization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88131" y="416988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14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</p:sldLayoutIdLst>
  <p:hf hdr="0"/>
  <p:txStyles>
    <p:titleStyle>
      <a:lvl1pPr algn="l" defTabSz="461040" rtl="0" eaLnBrk="1" latinLnBrk="0" hangingPunct="1">
        <a:lnSpc>
          <a:spcPct val="80000"/>
        </a:lnSpc>
        <a:spcBef>
          <a:spcPct val="0"/>
        </a:spcBef>
        <a:buNone/>
        <a:defRPr sz="2218" kern="1200" cap="all" spc="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702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91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676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8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807509"/>
            <a:ext cx="4149090" cy="2283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05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5118" y="3207603"/>
            <a:ext cx="145986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3905" y="3207603"/>
            <a:ext cx="107569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5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/>
  <p:txStyles>
    <p:titleStyle>
      <a:lvl1pPr algn="l" defTabSz="461040" rtl="0" eaLnBrk="1" latinLnBrk="0" hangingPunct="1">
        <a:spcBef>
          <a:spcPct val="0"/>
        </a:spcBef>
        <a:buNone/>
        <a:defRPr sz="2017" b="1" kern="1200" spc="-76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172890" indent="-172890" algn="l" defTabSz="461040" rtl="0" eaLnBrk="1" latinLnBrk="0" hangingPunct="1">
        <a:spcBef>
          <a:spcPct val="20000"/>
        </a:spcBef>
        <a:buFont typeface="Arial" pitchFamily="34" charset="0"/>
        <a:buChar char="•"/>
        <a:defRPr sz="161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74595" indent="-144075" algn="l" defTabSz="461040" rtl="0" eaLnBrk="1" latinLnBrk="0" hangingPunct="1">
        <a:spcBef>
          <a:spcPct val="20000"/>
        </a:spcBef>
        <a:buFont typeface="Arial" pitchFamily="34" charset="0"/>
        <a:buChar char="–"/>
        <a:defRPr sz="1412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7630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21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806821" indent="-115260" algn="l" defTabSz="461040" rtl="0" eaLnBrk="1" latinLnBrk="0" hangingPunct="1">
        <a:spcBef>
          <a:spcPct val="20000"/>
        </a:spcBef>
        <a:buFont typeface="Arial" pitchFamily="34" charset="0"/>
        <a:buChar char="–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037341" indent="-115260" algn="l" defTabSz="461040" rtl="0" eaLnBrk="1" latinLnBrk="0" hangingPunct="1">
        <a:spcBef>
          <a:spcPct val="20000"/>
        </a:spcBef>
        <a:buFont typeface="Arial" pitchFamily="34" charset="0"/>
        <a:buChar char="»"/>
        <a:defRPr sz="100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267861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spcBef>
          <a:spcPct val="20000"/>
        </a:spcBef>
        <a:buFont typeface="Arial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Lecture</a:t>
            </a:r>
            <a:r>
              <a:rPr sz="1400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48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Analytic</a:t>
            </a:r>
            <a:r>
              <a:rPr spc="285" dirty="0"/>
              <a:t> </a:t>
            </a:r>
            <a:r>
              <a:rPr spc="-10" dirty="0"/>
              <a:t>geometry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82304"/>
            <a:ext cx="3734435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studied</a:t>
            </a:r>
            <a:r>
              <a:rPr sz="1100" spc="-35" dirty="0">
                <a:latin typeface="Tahoma"/>
                <a:cs typeface="Tahoma"/>
              </a:rPr>
              <a:t> 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spaces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lecture.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Now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would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like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provide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interpretation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concepts.</a:t>
            </a:r>
            <a:endParaRPr sz="1100">
              <a:latin typeface="Tahoma"/>
              <a:cs typeface="Tahoma"/>
            </a:endParaRPr>
          </a:p>
          <a:p>
            <a:pPr marL="214629" marR="130175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shall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close </a:t>
            </a:r>
            <a:r>
              <a:rPr sz="1100" dirty="0">
                <a:latin typeface="Tahoma"/>
                <a:cs typeface="Tahoma"/>
              </a:rPr>
              <a:t>look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concepts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lengths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angles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  <a:p>
            <a:pPr marL="214629" marR="438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But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add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space.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107A-8751-E23A-4854-C4E545BB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IN" dirty="0"/>
              <a:t>Motivation to study the distance between vectors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70A42-2AD5-D8B0-367C-E9A915819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739775"/>
            <a:ext cx="4343349" cy="2369880"/>
          </a:xfrm>
        </p:spPr>
        <p:txBody>
          <a:bodyPr/>
          <a:lstStyle/>
          <a:p>
            <a:r>
              <a:rPr lang="en-US" dirty="0"/>
              <a:t> First let us introduce Similarity and Dissimilarity between data Objects: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Similarity is a numerical measure of how alike two data objects are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Value is higher when data objects are more alike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Often falls in the range of [0,1] (Otherwise one can normalize)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Dissimilarity is a numerical measure of how different two data objects are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Lower when objects are more alike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Minimum dissimilarity is 0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Upper limits varies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19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D248-27BD-417C-AB15-5B55F7D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US" dirty="0"/>
              <a:t>The Data Matrix and Dissimilarity matrix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66E4-5DBE-483A-9281-AFD879B1D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49" y="815975"/>
            <a:ext cx="4127817" cy="169277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1BDD37-A488-4A4B-9885-89011FD775B4}"/>
                  </a:ext>
                </a:extLst>
              </p:cNvPr>
              <p:cNvSpPr txBox="1"/>
              <p:nvPr/>
            </p:nvSpPr>
            <p:spPr>
              <a:xfrm>
                <a:off x="171450" y="815976"/>
                <a:ext cx="4267202" cy="2227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Suppose we have n data objects with p attributes, the Data Matrix is given by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r>
                  <a:rPr lang="en-US" sz="1000" dirty="0"/>
                  <a:t>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𝑛𝑝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IN" sz="1000" dirty="0"/>
              </a:p>
              <a:p>
                <a:endParaRPr lang="en-US" sz="1000" dirty="0"/>
              </a:p>
              <a:p>
                <a:r>
                  <a:rPr lang="en-US" sz="1000" dirty="0"/>
                  <a:t>N</a:t>
                </a:r>
                <a:r>
                  <a:rPr lang="en-IN" sz="1000" dirty="0" err="1"/>
                  <a:t>ote</a:t>
                </a:r>
                <a:r>
                  <a:rPr lang="en-IN" sz="1000" dirty="0"/>
                  <a:t> that the order of the data matrix is </a:t>
                </a:r>
                <a:r>
                  <a:rPr lang="en-IN" sz="1000" dirty="0" err="1"/>
                  <a:t>nxp</a:t>
                </a:r>
                <a:r>
                  <a:rPr lang="en-IN" sz="1000" dirty="0"/>
                  <a:t>.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r>
                  <a:rPr lang="en-US" sz="1000" dirty="0"/>
                  <a:t>N</a:t>
                </a:r>
                <a:r>
                  <a:rPr lang="en-IN" sz="1000" dirty="0"/>
                  <a:t>ow we want to give the dissimilarity matrix  in which the (</a:t>
                </a:r>
                <a:r>
                  <a:rPr lang="en-IN" sz="1000" dirty="0" err="1"/>
                  <a:t>i</a:t>
                </a:r>
                <a:r>
                  <a:rPr lang="en-IN" sz="1000" dirty="0"/>
                  <a:t>, j) </a:t>
                </a:r>
                <a:r>
                  <a:rPr lang="en-IN" sz="1000" dirty="0" err="1"/>
                  <a:t>th</a:t>
                </a:r>
                <a:r>
                  <a:rPr lang="en-IN" sz="1000" dirty="0"/>
                  <a:t> entry gives the dissimilarity measure of </a:t>
                </a:r>
                <a:r>
                  <a:rPr lang="en-IN" sz="1000" dirty="0" err="1"/>
                  <a:t>ith</a:t>
                </a:r>
                <a:r>
                  <a:rPr lang="en-IN" sz="1000" dirty="0"/>
                  <a:t> and </a:t>
                </a:r>
                <a:r>
                  <a:rPr lang="en-IN" sz="1000" dirty="0" err="1"/>
                  <a:t>jth</a:t>
                </a:r>
                <a:r>
                  <a:rPr lang="en-IN" sz="1000" dirty="0"/>
                  <a:t> data objects.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1BDD37-A488-4A4B-9885-89011FD77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815976"/>
                <a:ext cx="4267202" cy="2227918"/>
              </a:xfrm>
              <a:prstGeom prst="rect">
                <a:avLst/>
              </a:prstGeom>
              <a:blipFill>
                <a:blip r:embed="rId2"/>
                <a:stretch>
                  <a:fillRect b="-2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2AA720-06FC-4581-8F8D-7DAE60E98C53}"/>
              </a:ext>
            </a:extLst>
          </p:cNvPr>
          <p:cNvSpPr txBox="1"/>
          <p:nvPr/>
        </p:nvSpPr>
        <p:spPr>
          <a:xfrm>
            <a:off x="1839861" y="127204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08AA4-0B1C-4EC9-AB09-24A63E9919AF}"/>
              </a:ext>
            </a:extLst>
          </p:cNvPr>
          <p:cNvSpPr txBox="1"/>
          <p:nvPr/>
        </p:nvSpPr>
        <p:spPr>
          <a:xfrm>
            <a:off x="1085850" y="1128536"/>
            <a:ext cx="76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Objects</a:t>
            </a:r>
          </a:p>
          <a:p>
            <a:r>
              <a:rPr lang="en-US" sz="1000" dirty="0"/>
              <a:t>x</a:t>
            </a:r>
            <a:r>
              <a:rPr lang="en-US" sz="1000" baseline="-25000" dirty="0"/>
              <a:t>1</a:t>
            </a:r>
          </a:p>
          <a:p>
            <a:r>
              <a:rPr lang="en-US" sz="1000" baseline="-25000" dirty="0"/>
              <a:t> </a:t>
            </a:r>
            <a:r>
              <a:rPr lang="en-US" sz="1000" dirty="0"/>
              <a:t>x</a:t>
            </a:r>
            <a:r>
              <a:rPr lang="en-US" sz="1000" baseline="-25000" dirty="0"/>
              <a:t>2</a:t>
            </a:r>
          </a:p>
          <a:p>
            <a:endParaRPr lang="en-US" sz="1000" dirty="0"/>
          </a:p>
          <a:p>
            <a:r>
              <a:rPr lang="en-US" sz="1000" dirty="0" err="1"/>
              <a:t>x</a:t>
            </a:r>
            <a:r>
              <a:rPr lang="en-US" sz="1000" baseline="-25000" dirty="0" err="1"/>
              <a:t>n</a:t>
            </a:r>
            <a:r>
              <a:rPr lang="en-US" sz="1000" dirty="0"/>
              <a:t> </a:t>
            </a:r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9DA29-6EDC-4248-BEA2-2A46A0EA5286}"/>
              </a:ext>
            </a:extLst>
          </p:cNvPr>
          <p:cNvSpPr txBox="1"/>
          <p:nvPr/>
        </p:nvSpPr>
        <p:spPr>
          <a:xfrm>
            <a:off x="1695450" y="1128536"/>
            <a:ext cx="1752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         Attributes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28007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A0E6D-59F7-4EB2-9FBA-1A61F035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Dissimilarity Matrix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EE205-443F-4B9C-A7D8-E716A7170F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5412" y="739775"/>
                <a:ext cx="4190838" cy="2551083"/>
              </a:xfrm>
            </p:spPr>
            <p:txBody>
              <a:bodyPr/>
              <a:lstStyle/>
              <a:p>
                <a:r>
                  <a:rPr lang="en-US" dirty="0"/>
                  <a:t>  Suppose there are n data objects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 dissimilarity matrix is an </a:t>
                </a:r>
                <a:r>
                  <a:rPr lang="en-US" dirty="0" err="1"/>
                  <a:t>nxn</a:t>
                </a:r>
                <a:r>
                  <a:rPr lang="en-US" dirty="0"/>
                  <a:t> matrix  given by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(1,2)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,2)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,3)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3,2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(2,3)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,1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,2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(2,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…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 Note that the diagonal elements are 0 since the dissimilarity measure between the same data objects are 0.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The dissimilarity matrix is a symmetric matrix  since the dissimilarity measure between x</a:t>
                </a:r>
                <a:r>
                  <a:rPr lang="en-US" baseline="-25000" dirty="0"/>
                  <a:t>i</a:t>
                </a:r>
                <a:r>
                  <a:rPr lang="en-US" dirty="0"/>
                  <a:t> and 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j</a:t>
                </a:r>
                <a:r>
                  <a:rPr lang="en-US" dirty="0"/>
                  <a:t> is same the dissimilarity measure between  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j</a:t>
                </a:r>
                <a:r>
                  <a:rPr lang="en-US" dirty="0"/>
                  <a:t> and x</a:t>
                </a:r>
                <a:r>
                  <a:rPr lang="en-US" baseline="-25000" dirty="0"/>
                  <a:t>i</a:t>
                </a:r>
                <a:r>
                  <a:rPr lang="en-US" dirty="0"/>
                  <a:t>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EE205-443F-4B9C-A7D8-E716A7170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412" y="739775"/>
                <a:ext cx="4190838" cy="2551083"/>
              </a:xfrm>
              <a:blipFill>
                <a:blip r:embed="rId2"/>
                <a:stretch>
                  <a:fillRect l="-2183" t="-1909" r="-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03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115F-BE7F-4681-899E-7B3C725C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Dissimilarity Measures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60FC35-8D64-48B1-A81C-6E0EA17094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107115"/>
              </a:xfrm>
            </p:spPr>
            <p:txBody>
              <a:bodyPr/>
              <a:lstStyle/>
              <a:p>
                <a:r>
                  <a:rPr lang="en-US" dirty="0"/>
                  <a:t>There are many dissimilarity measures being used.</a:t>
                </a:r>
              </a:p>
              <a:p>
                <a:r>
                  <a:rPr lang="en-US" dirty="0"/>
                  <a:t>We are giving some of them without much details:</a:t>
                </a:r>
              </a:p>
              <a:p>
                <a:pPr marL="228600" indent="-228600">
                  <a:buAutoNum type="arabicPeriod"/>
                </a:pPr>
                <a:r>
                  <a:rPr lang="en-US" b="1" dirty="0"/>
                  <a:t>Simple dissimilarity measure </a:t>
                </a:r>
                <a:r>
                  <a:rPr lang="en-US" dirty="0"/>
                  <a:t>[Formula: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IN" dirty="0"/>
                  <a:t> where p is the number of attributes and m is the number of matches of the attribute values of </a:t>
                </a:r>
                <a:r>
                  <a:rPr lang="en-IN" dirty="0" err="1"/>
                  <a:t>ith</a:t>
                </a:r>
                <a:r>
                  <a:rPr lang="en-IN" dirty="0"/>
                  <a:t> and </a:t>
                </a:r>
                <a:r>
                  <a:rPr lang="en-IN" dirty="0" err="1"/>
                  <a:t>jth</a:t>
                </a:r>
                <a:r>
                  <a:rPr lang="en-IN" dirty="0"/>
                  <a:t> data points.</a:t>
                </a:r>
              </a:p>
              <a:p>
                <a:pPr marL="228600" indent="-228600">
                  <a:buAutoNum type="arabicPeriod"/>
                </a:pPr>
                <a:r>
                  <a:rPr lang="en-US" b="1" dirty="0"/>
                  <a:t>Proximity dissimilarity Measure for binary attributes</a:t>
                </a:r>
              </a:p>
              <a:p>
                <a:pPr marL="228600" indent="-228600">
                  <a:buFontTx/>
                  <a:buAutoNum type="arabicPeriod"/>
                </a:pPr>
                <a:r>
                  <a:rPr lang="en-US" b="1" dirty="0"/>
                  <a:t>Dissimilarity Measure with Euclidian metric </a:t>
                </a:r>
                <a:r>
                  <a:rPr lang="en-US" dirty="0"/>
                  <a:t>Here   d(</a:t>
                </a:r>
                <a:r>
                  <a:rPr lang="en-US" dirty="0" err="1"/>
                  <a:t>i</a:t>
                </a:r>
                <a:r>
                  <a:rPr lang="en-US" dirty="0"/>
                  <a:t>, j) is the Euclidian distance between </a:t>
                </a:r>
                <a:r>
                  <a:rPr lang="en-IN" dirty="0" err="1"/>
                  <a:t>ith</a:t>
                </a:r>
                <a:r>
                  <a:rPr lang="en-IN" dirty="0"/>
                  <a:t> and </a:t>
                </a:r>
                <a:r>
                  <a:rPr lang="en-IN" dirty="0" err="1"/>
                  <a:t>jth</a:t>
                </a:r>
                <a:r>
                  <a:rPr lang="en-IN" dirty="0"/>
                  <a:t> data points.</a:t>
                </a:r>
              </a:p>
              <a:p>
                <a:endParaRPr lang="en-IN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60FC35-8D64-48B1-A81C-6E0EA1709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107115"/>
              </a:xfrm>
              <a:blipFill>
                <a:blip r:embed="rId2"/>
                <a:stretch>
                  <a:fillRect l="-2344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74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4281-A368-4A7E-8CA3-CB0C7FAB2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US" dirty="0"/>
              <a:t>Example of a dissimilarity matrix with Euclidian distance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A01A-BD4A-4767-B6DF-8E7BF838B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1" y="815975"/>
            <a:ext cx="3932554" cy="338554"/>
          </a:xfrm>
        </p:spPr>
        <p:txBody>
          <a:bodyPr/>
          <a:lstStyle/>
          <a:p>
            <a:r>
              <a:rPr lang="en-US" dirty="0"/>
              <a:t>Suppose our data matrix of four data objects is given by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B7A30D-C80E-41FB-96B1-AF8B19BA2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44798"/>
              </p:ext>
            </p:extLst>
          </p:nvPr>
        </p:nvGraphicFramePr>
        <p:xfrm>
          <a:off x="476249" y="1044575"/>
          <a:ext cx="2775768" cy="1998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5256">
                  <a:extLst>
                    <a:ext uri="{9D8B030D-6E8A-4147-A177-3AD203B41FA5}">
                      <a16:colId xmlns:a16="http://schemas.microsoft.com/office/drawing/2014/main" val="2025645297"/>
                    </a:ext>
                  </a:extLst>
                </a:gridCol>
                <a:gridCol w="925256">
                  <a:extLst>
                    <a:ext uri="{9D8B030D-6E8A-4147-A177-3AD203B41FA5}">
                      <a16:colId xmlns:a16="http://schemas.microsoft.com/office/drawing/2014/main" val="3655676226"/>
                    </a:ext>
                  </a:extLst>
                </a:gridCol>
                <a:gridCol w="925256">
                  <a:extLst>
                    <a:ext uri="{9D8B030D-6E8A-4147-A177-3AD203B41FA5}">
                      <a16:colId xmlns:a16="http://schemas.microsoft.com/office/drawing/2014/main" val="411431167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Data Object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Attribute 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Attribute 2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224496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56740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120225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59665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88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01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E4AD3-BBFF-47C1-9CAE-768811C3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US" dirty="0"/>
              <a:t>Example of a dissimilarity matrix with Euclidian distance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C7872-DB0B-4D77-9B3D-68AA7D201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650" y="815975"/>
            <a:ext cx="4051617" cy="2178366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DE75DF-4085-4ED5-AEFB-43B20F3DB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972182"/>
              </p:ext>
            </p:extLst>
          </p:nvPr>
        </p:nvGraphicFramePr>
        <p:xfrm>
          <a:off x="310833" y="822427"/>
          <a:ext cx="30734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4680">
                  <a:extLst>
                    <a:ext uri="{9D8B030D-6E8A-4147-A177-3AD203B41FA5}">
                      <a16:colId xmlns:a16="http://schemas.microsoft.com/office/drawing/2014/main" val="2286866342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155576027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447240826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3472697076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1263528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3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77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5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06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49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E41C-BED0-48C2-B4DB-0201E8E5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Ctd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F39305-6233-4BA3-8617-9069049234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1450" y="815975"/>
                <a:ext cx="4127817" cy="2236318"/>
              </a:xfrm>
            </p:spPr>
            <p:txBody>
              <a:bodyPr/>
              <a:lstStyle/>
              <a:p>
                <a:r>
                  <a:rPr lang="en-US" dirty="0"/>
                  <a:t>In each entry of the above table we calculate the Euclidian distance between the data objects. For example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(1−3)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(2−5)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=3.61 </m:t>
                      </m:r>
                    </m:oMath>
                  </m:oMathPara>
                </a14:m>
                <a:endParaRPr lang="en-IN" dirty="0"/>
              </a:p>
              <a:p>
                <a:endParaRPr lang="en-US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I</a:t>
                </a:r>
                <a:r>
                  <a:rPr lang="en-IN" dirty="0"/>
                  <a:t>n this context we need to study the distance between two vectors.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W</a:t>
                </a:r>
                <a:r>
                  <a:rPr lang="en-IN" dirty="0"/>
                  <a:t>e study this notion in more generic way.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IN" dirty="0"/>
                  <a:t>first we define </a:t>
                </a:r>
                <a:r>
                  <a:rPr lang="en-IN" i="1" dirty="0"/>
                  <a:t>inner product </a:t>
                </a:r>
                <a:r>
                  <a:rPr lang="en-IN" dirty="0"/>
                  <a:t>of two vectors.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We will see that each inner product gives raise to a norm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Using a norm one can define distance between two vectors.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dirty="0"/>
                  <a:t>If we take the dot product which is an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 we get the Euclidian norm.</a:t>
                </a: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F39305-6233-4BA3-8617-906904923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1450" y="815975"/>
                <a:ext cx="4127817" cy="2236318"/>
              </a:xfrm>
              <a:blipFill>
                <a:blip r:embed="rId2"/>
                <a:stretch>
                  <a:fillRect l="-2068" t="-2180" b="-29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47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2DF0-57E5-4CB1-ACD7-1961A14E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Dot product in R</a:t>
            </a:r>
            <a:r>
              <a:rPr lang="en-US" baseline="30000" dirty="0"/>
              <a:t>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CA3B5A-266E-41E0-82DB-0365B551DBD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7651" y="815975"/>
                <a:ext cx="4008754" cy="2566985"/>
              </a:xfrm>
            </p:spPr>
            <p:txBody>
              <a:bodyPr/>
              <a:lstStyle/>
              <a:p>
                <a:r>
                  <a:rPr lang="en-US" dirty="0"/>
                  <a:t> Let x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Then the dot product of x and y is defined as 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IN" dirty="0"/>
              </a:p>
              <a:p>
                <a:endParaRPr lang="en-US" dirty="0"/>
              </a:p>
              <a:p>
                <a:r>
                  <a:rPr lang="en-US" dirty="0"/>
                  <a:t>L</a:t>
                </a:r>
                <a:r>
                  <a:rPr lang="en-IN" dirty="0"/>
                  <a:t>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IN" dirty="0"/>
                  <a:t>.</a:t>
                </a:r>
              </a:p>
              <a:p>
                <a:r>
                  <a:rPr lang="en-US" dirty="0"/>
                  <a:t>T</a:t>
                </a:r>
                <a:r>
                  <a:rPr lang="en-IN" dirty="0"/>
                  <a:t>hen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b="1" i="1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S</a:t>
                </a:r>
                <a:r>
                  <a:rPr lang="en-IN" dirty="0"/>
                  <a:t>similarly one can prove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US" dirty="0"/>
                  <a:t>Also it is easy to observe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N" dirty="0"/>
                  <a:t> and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𝒂𝒏𝒅𝒙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 if and only 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b="1" dirty="0"/>
                  <a:t>.</a:t>
                </a:r>
              </a:p>
              <a:p>
                <a:r>
                  <a:rPr lang="en-US" dirty="0"/>
                  <a:t>W</a:t>
                </a:r>
                <a:r>
                  <a:rPr lang="en-IN" dirty="0"/>
                  <a:t>e generalize these properties of the dot product on any vector space and call it as inner product.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CA3B5A-266E-41E0-82DB-0365B551D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7651" y="815975"/>
                <a:ext cx="4008754" cy="2566985"/>
              </a:xfrm>
              <a:blipFill>
                <a:blip r:embed="rId2"/>
                <a:stretch>
                  <a:fillRect l="-2283" t="-2138" r="-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72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8"/>
            <a:ext cx="2819350" cy="66364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Definitions: Bilinear Mapping, Symmetric Mapping and Positive Definite Mapping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323850" y="815976"/>
            <a:ext cx="3972560" cy="19099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8250">
              <a:lnSpc>
                <a:spcPct val="100000"/>
              </a:lnSpc>
              <a:spcBef>
                <a:spcPts val="95"/>
              </a:spcBef>
            </a:pPr>
            <a:endParaRPr sz="800" dirty="0">
              <a:latin typeface="Tahoma"/>
              <a:cs typeface="Tahoma"/>
            </a:endParaRPr>
          </a:p>
          <a:p>
            <a:pPr marL="278130" marR="93980" indent="-177165">
              <a:lnSpc>
                <a:spcPts val="1350"/>
              </a:lnSpc>
              <a:spcBef>
                <a:spcPts val="25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bilinear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arguments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is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arguments: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λ,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110" dirty="0">
                <a:latin typeface="Bookman Old Style"/>
                <a:cs typeface="Bookman Old Style"/>
              </a:rPr>
              <a:t>ψ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have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ts val="1315"/>
              </a:lnSpc>
            </a:pPr>
            <a:r>
              <a:rPr sz="1100" dirty="0">
                <a:latin typeface="Tahoma"/>
                <a:cs typeface="Tahoma"/>
              </a:rPr>
              <a:t>Ω(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ψ</a:t>
            </a:r>
            <a:r>
              <a:rPr sz="1050" spc="-35" dirty="0">
                <a:latin typeface="Arial"/>
                <a:cs typeface="Arial"/>
              </a:rPr>
              <a:t>y</a:t>
            </a:r>
            <a:r>
              <a:rPr sz="1050" spc="-15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14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14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ψ</a:t>
            </a:r>
            <a:r>
              <a:rPr sz="1100" spc="-20" dirty="0">
                <a:latin typeface="Tahoma"/>
                <a:cs typeface="Tahoma"/>
              </a:rPr>
              <a:t>Ω(</a:t>
            </a:r>
            <a:r>
              <a:rPr sz="1050" spc="-20" dirty="0">
                <a:latin typeface="Arial"/>
                <a:cs typeface="Arial"/>
              </a:rPr>
              <a:t>y</a:t>
            </a:r>
            <a:r>
              <a:rPr sz="1050" spc="-14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14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2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ψ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 = </a:t>
            </a:r>
            <a:r>
              <a:rPr sz="1100" i="1" dirty="0">
                <a:latin typeface="Bookman Old Style"/>
                <a:cs typeface="Bookman Old Style"/>
              </a:rPr>
              <a:t>λ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7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ψ</a:t>
            </a:r>
            <a:r>
              <a:rPr sz="1100" spc="-20" dirty="0">
                <a:latin typeface="Tahoma"/>
                <a:cs typeface="Tahoma"/>
              </a:rPr>
              <a:t>Ω(</a:t>
            </a:r>
            <a:r>
              <a:rPr sz="1050" spc="-20" dirty="0">
                <a:latin typeface="Arial"/>
                <a:cs typeface="Arial"/>
              </a:rPr>
              <a:t>x</a:t>
            </a:r>
            <a:r>
              <a:rPr sz="1050" spc="-17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25" dirty="0">
                <a:latin typeface="Bookman Old Style"/>
                <a:cs typeface="Bookman Old Style"/>
              </a:rPr>
              <a:t> </a:t>
            </a:r>
            <a:r>
              <a:rPr sz="1050" spc="-25" dirty="0">
                <a:latin typeface="Arial"/>
                <a:cs typeface="Arial"/>
              </a:rPr>
              <a:t>z</a:t>
            </a:r>
            <a:r>
              <a:rPr sz="1100" spc="-25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  <a:p>
            <a:pPr marL="278130" marR="249554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78130" algn="l"/>
              </a:tabLst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8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spc="20" dirty="0">
                <a:latin typeface="Century"/>
                <a:cs typeface="Century"/>
              </a:rPr>
              <a:t> </a:t>
            </a:r>
            <a:r>
              <a:rPr sz="1100" spc="-10" dirty="0">
                <a:latin typeface="Tahoma"/>
                <a:cs typeface="Tahoma"/>
              </a:rPr>
              <a:t>be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bilinear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takes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as </a:t>
            </a:r>
            <a:r>
              <a:rPr sz="1100" spc="-50" dirty="0">
                <a:latin typeface="Tahoma"/>
                <a:cs typeface="Tahoma"/>
              </a:rPr>
              <a:t>arguments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returns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20" dirty="0">
                <a:latin typeface="Tahoma"/>
                <a:cs typeface="Tahoma"/>
              </a:rPr>
              <a:t>real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number.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Also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Ω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endParaRPr sz="1100" dirty="0">
              <a:latin typeface="Tahoma"/>
              <a:cs typeface="Tahoma"/>
            </a:endParaRPr>
          </a:p>
          <a:p>
            <a:pPr marL="2781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∀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\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4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Ω(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55" dirty="0">
                <a:latin typeface="Arial"/>
                <a:cs typeface="Arial"/>
              </a:rPr>
              <a:t>x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Ω(</a:t>
            </a:r>
            <a:r>
              <a:rPr sz="1100" b="1" spc="-20" dirty="0">
                <a:latin typeface="Arial"/>
                <a:cs typeface="Arial"/>
              </a:rPr>
              <a:t>0</a:t>
            </a:r>
            <a:r>
              <a:rPr sz="1100" i="1" spc="-20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b="1" dirty="0">
                <a:latin typeface="Arial"/>
                <a:cs typeface="Arial"/>
              </a:rPr>
              <a:t>0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Inner</a:t>
            </a:r>
            <a:r>
              <a:rPr spc="55" dirty="0"/>
              <a:t> </a:t>
            </a:r>
            <a:r>
              <a:rPr spc="-10" dirty="0"/>
              <a:t>products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257" y="819593"/>
            <a:ext cx="3890010" cy="18456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79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symmetric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bilinear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mapping</a:t>
            </a:r>
            <a:endParaRPr sz="1100" dirty="0">
              <a:latin typeface="Tahoma"/>
              <a:cs typeface="Tahoma"/>
            </a:endParaRPr>
          </a:p>
          <a:p>
            <a:pPr marL="227329" marR="43180">
              <a:lnSpc>
                <a:spcPct val="102699"/>
              </a:lnSpc>
            </a:pPr>
            <a:r>
              <a:rPr sz="1100" dirty="0">
                <a:latin typeface="Tahoma"/>
                <a:cs typeface="Tahoma"/>
              </a:rPr>
              <a:t>Ω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: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-6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called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inner </a:t>
            </a:r>
            <a:r>
              <a:rPr sz="1100" spc="-25" dirty="0">
                <a:latin typeface="Tahoma"/>
                <a:cs typeface="Tahoma"/>
              </a:rPr>
              <a:t>product.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denote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inner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8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-25" dirty="0">
                <a:latin typeface="Arial"/>
                <a:cs typeface="Arial"/>
              </a:rPr>
              <a:t>y</a:t>
            </a:r>
            <a:r>
              <a:rPr sz="1100" spc="-25" dirty="0">
                <a:latin typeface="Cambria"/>
                <a:cs typeface="Cambria"/>
              </a:rPr>
              <a:t>⟩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Cambria"/>
                <a:cs typeface="Cambria"/>
              </a:rPr>
              <a:t>⟨</a:t>
            </a:r>
            <a:r>
              <a:rPr sz="1100" i="1" spc="-20" dirty="0">
                <a:latin typeface="Bookman Old Style"/>
                <a:cs typeface="Bookman Old Style"/>
              </a:rPr>
              <a:t>.,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inner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 </a:t>
            </a:r>
            <a:r>
              <a:rPr sz="1100" spc="-10" dirty="0">
                <a:latin typeface="Tahoma"/>
                <a:cs typeface="Tahoma"/>
              </a:rPr>
              <a:t>space.</a:t>
            </a:r>
            <a:endParaRPr sz="1100" dirty="0">
              <a:latin typeface="Tahoma"/>
              <a:cs typeface="Tahoma"/>
            </a:endParaRPr>
          </a:p>
          <a:p>
            <a:pPr marL="227329" marR="43815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Next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introduce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symmetric,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10" dirty="0">
                <a:latin typeface="Tahoma"/>
                <a:cs typeface="Tahoma"/>
              </a:rPr>
              <a:t>definite </a:t>
            </a:r>
            <a:r>
              <a:rPr sz="1100" spc="-30" dirty="0">
                <a:latin typeface="Tahoma"/>
                <a:cs typeface="Tahoma"/>
              </a:rPr>
              <a:t>matrices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inner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such </a:t>
            </a:r>
            <a:r>
              <a:rPr sz="1100" spc="-10" dirty="0">
                <a:latin typeface="Tahoma"/>
                <a:cs typeface="Tahoma"/>
              </a:rPr>
              <a:t>matrices.</a:t>
            </a:r>
            <a:endParaRPr sz="1100" dirty="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recall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be </a:t>
            </a:r>
            <a:r>
              <a:rPr sz="1100" spc="-20" dirty="0">
                <a:latin typeface="Tahoma"/>
                <a:cs typeface="Tahoma"/>
              </a:rPr>
              <a:t>written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combination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basis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this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inner product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terms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r>
              <a:rPr lang="en-IN" sz="1100" spc="-10" dirty="0">
                <a:latin typeface="Tahoma"/>
                <a:cs typeface="Tahoma"/>
              </a:rPr>
              <a:t> 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A5B8-E8D7-9AE3-1B93-D903D8B9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Notation for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2BC5DE-1F78-5996-D3A1-2BBF68CF2A86}"/>
                  </a:ext>
                </a:extLst>
              </p:cNvPr>
              <p:cNvSpPr txBox="1"/>
              <p:nvPr/>
            </p:nvSpPr>
            <p:spPr>
              <a:xfrm>
                <a:off x="95300" y="892175"/>
                <a:ext cx="4267150" cy="2257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Let V be vector space and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000" dirty="0"/>
                  <a:t>,…,</a:t>
                </a:r>
                <a:r>
                  <a:rPr lang="en-IN" sz="10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000" dirty="0"/>
                  <a:t>} be a basis of V. Then for any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000" dirty="0"/>
                  <a:t>+</a:t>
                </a:r>
                <a:r>
                  <a:rPr lang="en-IN" sz="1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000" dirty="0"/>
                  <a:t>+…+</a:t>
                </a:r>
                <a:r>
                  <a:rPr lang="en-IN" sz="1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=1,..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000" b="0" dirty="0">
                  <a:ea typeface="Cambria Math" panose="02040503050406030204" pitchFamily="18" charset="0"/>
                </a:endParaRPr>
              </a:p>
              <a:p>
                <a:r>
                  <a:rPr lang="en-IN" sz="1000" dirty="0"/>
                  <a:t>Then the coordinate vector of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defined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as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000" dirty="0"/>
              </a:p>
              <a:p>
                <a:r>
                  <a:rPr lang="en-IN" sz="1000" dirty="0"/>
                  <a:t>For example,</a:t>
                </a:r>
              </a:p>
              <a:p>
                <a:r>
                  <a:rPr lang="en-IN" sz="1000" dirty="0"/>
                  <a:t>In R</a:t>
                </a:r>
                <a:r>
                  <a:rPr lang="en-IN" sz="1000" baseline="30000" dirty="0"/>
                  <a:t>n</a:t>
                </a:r>
                <a:r>
                  <a:rPr lang="en-IN" sz="1000" dirty="0"/>
                  <a:t> if we take the standard 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,⋯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000" dirty="0"/>
                  <a:t>then for any x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̂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IN" sz="1000" dirty="0"/>
                  <a:t>=</a:t>
                </a:r>
                <a:r>
                  <a:rPr lang="en-IN" sz="1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IN" sz="1000" dirty="0"/>
                  <a:t>.  Prove.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2BC5DE-1F78-5996-D3A1-2BBF68CF2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0" y="892175"/>
                <a:ext cx="4267150" cy="2257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454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A598-B115-5F27-C77B-D3013C38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430887"/>
          </a:xfrm>
        </p:spPr>
        <p:txBody>
          <a:bodyPr/>
          <a:lstStyle/>
          <a:p>
            <a:r>
              <a:rPr lang="en-IN" dirty="0"/>
              <a:t>Symmetric Matrices and Positive Definite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40E446-3173-80EF-4B44-A40B3E25536F}"/>
                  </a:ext>
                </a:extLst>
              </p:cNvPr>
              <p:cNvSpPr txBox="1"/>
              <p:nvPr/>
            </p:nvSpPr>
            <p:spPr>
              <a:xfrm>
                <a:off x="171450" y="815975"/>
                <a:ext cx="4267200" cy="21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If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1000" dirty="0"/>
                  <a:t> is an </a:t>
                </a:r>
                <a:r>
                  <a:rPr lang="en-IN" sz="1000" dirty="0" err="1"/>
                  <a:t>mxn</a:t>
                </a:r>
                <a:r>
                  <a:rPr lang="en-IN" sz="1000" dirty="0"/>
                  <a:t> matrix, then we define transpose of A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1000" dirty="0"/>
                  <a:t>.</a:t>
                </a:r>
              </a:p>
              <a:p>
                <a:r>
                  <a:rPr lang="en-IN" sz="1000" dirty="0"/>
                  <a:t>That is the rows of A become columns of A</a:t>
                </a:r>
                <a:r>
                  <a:rPr lang="en-IN" sz="1000" baseline="30000" dirty="0"/>
                  <a:t>T</a:t>
                </a:r>
                <a:r>
                  <a:rPr lang="en-IN" sz="1000" dirty="0"/>
                  <a:t> and the columns of A become rows of A</a:t>
                </a:r>
                <a:r>
                  <a:rPr lang="en-IN" sz="1000" baseline="30000" dirty="0"/>
                  <a:t>T</a:t>
                </a:r>
                <a:r>
                  <a:rPr lang="en-IN" sz="1000" dirty="0"/>
                  <a:t> .</a:t>
                </a:r>
              </a:p>
              <a:p>
                <a:r>
                  <a:rPr lang="en-IN" sz="1000" dirty="0"/>
                  <a:t>Note that if A is </a:t>
                </a:r>
                <a:r>
                  <a:rPr lang="en-IN" sz="1000" dirty="0" err="1"/>
                  <a:t>mxn</a:t>
                </a:r>
                <a:r>
                  <a:rPr lang="en-IN" sz="1000" dirty="0"/>
                  <a:t> matrix, then A</a:t>
                </a:r>
                <a:r>
                  <a:rPr lang="en-IN" sz="1000" baseline="30000" dirty="0"/>
                  <a:t>T </a:t>
                </a:r>
                <a:r>
                  <a:rPr lang="en-IN" sz="1000" dirty="0"/>
                  <a:t>is </a:t>
                </a:r>
                <a:r>
                  <a:rPr lang="en-IN" sz="1000" dirty="0" err="1"/>
                  <a:t>nxm</a:t>
                </a:r>
                <a:r>
                  <a:rPr lang="en-IN" sz="1000" dirty="0"/>
                  <a:t> matrix.</a:t>
                </a:r>
              </a:p>
              <a:p>
                <a:endParaRPr lang="en-IN" sz="1000" dirty="0"/>
              </a:p>
              <a:p>
                <a:r>
                  <a:rPr lang="en-IN" sz="1000" dirty="0"/>
                  <a:t>An </a:t>
                </a:r>
                <a:r>
                  <a:rPr lang="en-IN" sz="1000" dirty="0" err="1"/>
                  <a:t>nxn</a:t>
                </a:r>
                <a:r>
                  <a:rPr lang="en-IN" sz="1000" dirty="0"/>
                  <a:t> matrix A is called symmetric if A</a:t>
                </a:r>
                <a:r>
                  <a:rPr lang="en-IN" sz="1000" baseline="30000" dirty="0"/>
                  <a:t>T</a:t>
                </a:r>
                <a:r>
                  <a:rPr lang="en-IN" sz="1000" dirty="0"/>
                  <a:t> = A.</a:t>
                </a:r>
              </a:p>
              <a:p>
                <a:endParaRPr lang="en-IN" sz="1000" dirty="0"/>
              </a:p>
              <a:p>
                <a:r>
                  <a:rPr lang="en-IN" sz="1000" dirty="0"/>
                  <a:t>An </a:t>
                </a:r>
                <a:r>
                  <a:rPr lang="en-IN" sz="1000" dirty="0" err="1"/>
                  <a:t>nxn</a:t>
                </a:r>
                <a:r>
                  <a:rPr lang="en-IN" sz="1000" dirty="0"/>
                  <a:t> matrix A is called positive definite if for each x </a:t>
                </a:r>
                <a:r>
                  <a: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 R</a:t>
                </a:r>
                <a:r>
                  <a:rPr lang="en-IN" sz="10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             </a:t>
                </a:r>
                <a:r>
                  <a:rPr lang="en-IN" sz="1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IN" sz="1000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IN" sz="1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Ax</a:t>
                </a:r>
                <a:r>
                  <a:rPr lang="en-IN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0.</a:t>
                </a:r>
                <a:endParaRPr lang="en-IN" sz="1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40E446-3173-80EF-4B44-A40B3E255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815975"/>
                <a:ext cx="4267200" cy="21829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34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E7E7-D2AE-4962-A448-0ECA9B55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Relooking at Dot Product in R</a:t>
            </a:r>
            <a:r>
              <a:rPr lang="en-US" baseline="30000" dirty="0"/>
              <a:t>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320334-4E07-4740-903A-0F4D402F1C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1450" y="739775"/>
                <a:ext cx="4191000" cy="2664344"/>
              </a:xfrm>
            </p:spPr>
            <p:txBody>
              <a:bodyPr/>
              <a:lstStyle/>
              <a:p>
                <a:r>
                  <a:rPr lang="en-US" dirty="0"/>
                  <a:t>We have already seen that dot product is an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We ask a question this is the only inner product on R</a:t>
                </a:r>
                <a:r>
                  <a:rPr lang="en-US" baseline="30000" dirty="0"/>
                  <a:t>n </a:t>
                </a:r>
                <a:r>
                  <a:rPr lang="en-US" dirty="0"/>
                  <a:t> or is there any other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? In that case can we describe all inner products in R</a:t>
                </a:r>
                <a:r>
                  <a:rPr lang="en-US" baseline="30000" dirty="0"/>
                  <a:t>n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Recall that we define the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 as </a:t>
                </a:r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IN" dirty="0"/>
                  <a:t> is the </a:t>
                </a:r>
                <a:r>
                  <a:rPr lang="en-IN" dirty="0" err="1"/>
                  <a:t>nxn</a:t>
                </a:r>
                <a:r>
                  <a:rPr lang="en-IN" dirty="0"/>
                  <a:t> identity matrix.</a:t>
                </a:r>
              </a:p>
              <a:p>
                <a:r>
                  <a:rPr lang="en-US" dirty="0"/>
                  <a:t>It is easy to see</a:t>
                </a:r>
                <a:r>
                  <a:rPr lang="en-IN" dirty="0"/>
                  <a:t>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IN" dirty="0"/>
                  <a:t>  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IN" dirty="0"/>
                  <a:t> is  symmetric.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IN" dirty="0"/>
                  <a:t> is Positive definite matrix, since </a:t>
                </a:r>
              </a:p>
              <a:p>
                <a:r>
                  <a:rPr lang="en-US" dirty="0"/>
                  <a:t>I</a:t>
                </a:r>
                <a:r>
                  <a:rPr lang="en-IN" dirty="0"/>
                  <a:t>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&lt;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&gt; = &lt;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&gt; 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Also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only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US" b="1" dirty="0"/>
                      <m:t> </m:t>
                    </m:r>
                    <m:r>
                      <m:rPr>
                        <m:nor/>
                      </m:rPr>
                      <a:rPr lang="en-US" b="1" i="0" dirty="0" smtClean="0"/>
                      <m:t>&lt;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&gt; = &lt;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dirty="0"/>
                  <a:t>=0.</a:t>
                </a:r>
              </a:p>
              <a:p>
                <a:endParaRPr lang="en-US" dirty="0"/>
              </a:p>
              <a:p>
                <a:r>
                  <a:rPr lang="en-US" dirty="0"/>
                  <a:t>In fact every inner product in R</a:t>
                </a:r>
                <a:r>
                  <a:rPr lang="en-US" baseline="30000" dirty="0"/>
                  <a:t>n</a:t>
                </a:r>
                <a:r>
                  <a:rPr lang="en-US" dirty="0"/>
                  <a:t> corresponds to a symmetric positive definite matrix A. We shall verify this fact with a simple example.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320334-4E07-4740-903A-0F4D402F1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1450" y="739775"/>
                <a:ext cx="4191000" cy="2664344"/>
              </a:xfrm>
              <a:blipFill>
                <a:blip r:embed="rId2"/>
                <a:stretch>
                  <a:fillRect l="-2035" t="-16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81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4BA6-A73D-4B9E-9901-2DAFDA3A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A74F9C-6B70-440C-8EA7-A88E37BA8D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424895"/>
              </a:xfrm>
            </p:spPr>
            <p:txBody>
              <a:bodyPr/>
              <a:lstStyle/>
              <a:p>
                <a:r>
                  <a:rPr lang="en-US" dirty="0"/>
                  <a:t> First let us prove that the 3x3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a symmetric positive definite matrix.</a:t>
                </a:r>
              </a:p>
              <a:p>
                <a:r>
                  <a:rPr lang="en-IN" dirty="0"/>
                  <a:t>clearly A = A</a:t>
                </a:r>
                <a:r>
                  <a:rPr lang="en-IN" baseline="30000" dirty="0"/>
                  <a:t>T </a:t>
                </a:r>
                <a:r>
                  <a:rPr lang="en-IN" dirty="0"/>
                  <a:t>hence A is symmetric.</a:t>
                </a:r>
              </a:p>
              <a:p>
                <a:r>
                  <a:rPr lang="en-US" dirty="0"/>
                  <a:t>F</a:t>
                </a:r>
                <a:r>
                  <a:rPr lang="en-IN" dirty="0"/>
                  <a:t>or and x = [a, b, c]</a:t>
                </a:r>
                <a:r>
                  <a:rPr lang="en-IN" baseline="30000" dirty="0"/>
                  <a:t>T</a:t>
                </a:r>
                <a:r>
                  <a:rPr lang="en-IN" dirty="0"/>
                  <a:t> ≠ [0, 0, 0],</a:t>
                </a:r>
              </a:p>
              <a:p>
                <a:r>
                  <a:rPr lang="en-IN" dirty="0"/>
                  <a:t>[a, b, c](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IN" dirty="0"/>
                  <a:t>[a, b, c]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</a:t>
                </a:r>
              </a:p>
              <a:p>
                <a:endParaRPr lang="en-US" dirty="0"/>
              </a:p>
              <a:p>
                <a:r>
                  <a:rPr lang="en-US" dirty="0"/>
                  <a:t>                           = 2a</a:t>
                </a:r>
                <a:r>
                  <a:rPr lang="en-US" baseline="30000" dirty="0"/>
                  <a:t>2</a:t>
                </a:r>
                <a:r>
                  <a:rPr lang="en-US" dirty="0"/>
                  <a:t> + ab + ab +3b</a:t>
                </a:r>
                <a:r>
                  <a:rPr lang="en-US" baseline="30000" dirty="0"/>
                  <a:t>2</a:t>
                </a:r>
                <a:r>
                  <a:rPr lang="en-US" dirty="0"/>
                  <a:t> – </a:t>
                </a:r>
                <a:r>
                  <a:rPr lang="en-US" dirty="0" err="1"/>
                  <a:t>bc</a:t>
                </a:r>
                <a:r>
                  <a:rPr lang="en-US" dirty="0"/>
                  <a:t> – </a:t>
                </a:r>
                <a:r>
                  <a:rPr lang="en-US" dirty="0" err="1"/>
                  <a:t>bc</a:t>
                </a:r>
                <a:r>
                  <a:rPr lang="en-US" dirty="0"/>
                  <a:t> + 2c</a:t>
                </a:r>
                <a:r>
                  <a:rPr lang="en-US" baseline="30000" dirty="0"/>
                  <a:t>2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                = (</a:t>
                </a:r>
                <a:r>
                  <a:rPr lang="en-US" dirty="0" err="1"/>
                  <a:t>a+b</a:t>
                </a:r>
                <a:r>
                  <a:rPr lang="en-US" dirty="0"/>
                  <a:t>)</a:t>
                </a:r>
                <a:r>
                  <a:rPr lang="en-US" baseline="30000" dirty="0"/>
                  <a:t>2</a:t>
                </a:r>
                <a:r>
                  <a:rPr lang="en-US" dirty="0"/>
                  <a:t> + (b-c)</a:t>
                </a:r>
                <a:r>
                  <a:rPr lang="en-US" baseline="30000" dirty="0"/>
                  <a:t>2</a:t>
                </a:r>
                <a:r>
                  <a:rPr lang="en-US" dirty="0"/>
                  <a:t> + a</a:t>
                </a:r>
                <a:r>
                  <a:rPr lang="en-US" baseline="30000" dirty="0"/>
                  <a:t>2</a:t>
                </a:r>
                <a:r>
                  <a:rPr lang="en-US" dirty="0"/>
                  <a:t> + b</a:t>
                </a:r>
                <a:r>
                  <a:rPr lang="en-US" baseline="30000" dirty="0"/>
                  <a:t>2</a:t>
                </a:r>
                <a:r>
                  <a:rPr lang="en-US" dirty="0"/>
                  <a:t> + c</a:t>
                </a:r>
                <a:r>
                  <a:rPr lang="en-US" baseline="30000" dirty="0"/>
                  <a:t>2 </a:t>
                </a:r>
                <a:r>
                  <a:rPr lang="en-US" dirty="0"/>
                  <a:t>&gt; 0</a:t>
                </a:r>
              </a:p>
              <a:p>
                <a:endParaRPr lang="en-US" dirty="0"/>
              </a:p>
              <a:p>
                <a:r>
                  <a:rPr lang="en-US" dirty="0"/>
                  <a:t>Also if x = [0, 0, 0]</a:t>
                </a:r>
                <a:r>
                  <a:rPr lang="en-US" baseline="30000" dirty="0"/>
                  <a:t>T, </a:t>
                </a:r>
                <a:r>
                  <a:rPr lang="en-US" dirty="0"/>
                  <a:t> then </a:t>
                </a:r>
                <a:r>
                  <a:rPr lang="en-US" dirty="0" err="1"/>
                  <a:t>x</a:t>
                </a:r>
                <a:r>
                  <a:rPr lang="en-US" baseline="30000" dirty="0" err="1"/>
                  <a:t>T</a:t>
                </a:r>
                <a:r>
                  <a:rPr lang="en-US" dirty="0" err="1"/>
                  <a:t>Ax</a:t>
                </a:r>
                <a:r>
                  <a:rPr lang="en-US" dirty="0"/>
                  <a:t> = 0. This proves that A is positive definite.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A74F9C-6B70-440C-8EA7-A88E37BA8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7650" y="739775"/>
                <a:ext cx="3902710" cy="2424895"/>
              </a:xfrm>
              <a:blipFill>
                <a:blip r:embed="rId2"/>
                <a:stretch>
                  <a:fillRect l="-2344" b="-27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055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6AD1-0BA3-4873-913F-90596B321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US" dirty="0"/>
              <a:t>Example(</a:t>
            </a:r>
            <a:r>
              <a:rPr lang="en-US" dirty="0" err="1"/>
              <a:t>Ctd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86692-1616-4A38-9827-2B4BED8C0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739775"/>
            <a:ext cx="3902710" cy="2200602"/>
          </a:xfrm>
        </p:spPr>
        <p:txBody>
          <a:bodyPr/>
          <a:lstStyle/>
          <a:p>
            <a:r>
              <a:rPr lang="en-US" dirty="0"/>
              <a:t>Now the inner product in R</a:t>
            </a:r>
            <a:r>
              <a:rPr lang="en-US" baseline="30000" dirty="0"/>
              <a:t>n</a:t>
            </a:r>
            <a:r>
              <a:rPr lang="en-US" dirty="0"/>
              <a:t> using this matrix A can be defined as &lt;x, y&gt; = X</a:t>
            </a:r>
            <a:r>
              <a:rPr lang="en-US" baseline="30000" dirty="0"/>
              <a:t>T</a:t>
            </a:r>
            <a:r>
              <a:rPr lang="en-US" dirty="0"/>
              <a:t>(Ay).</a:t>
            </a:r>
          </a:p>
          <a:p>
            <a:r>
              <a:rPr lang="en-US" dirty="0"/>
              <a:t>Proof: </a:t>
            </a:r>
          </a:p>
          <a:p>
            <a:r>
              <a:rPr lang="en-US" dirty="0"/>
              <a:t>&lt; &gt; is symmetric since &lt;x, y&gt; = X</a:t>
            </a:r>
            <a:r>
              <a:rPr lang="en-US" baseline="30000" dirty="0"/>
              <a:t>T</a:t>
            </a:r>
            <a:r>
              <a:rPr lang="en-US" dirty="0"/>
              <a:t>(Ay) = [X</a:t>
            </a:r>
            <a:r>
              <a:rPr lang="en-US" baseline="30000" dirty="0"/>
              <a:t>T</a:t>
            </a:r>
            <a:r>
              <a:rPr lang="en-US" dirty="0"/>
              <a:t>(Ay)]</a:t>
            </a:r>
            <a:r>
              <a:rPr lang="en-US" baseline="30000" dirty="0"/>
              <a:t>T</a:t>
            </a:r>
            <a:r>
              <a:rPr lang="en-US" dirty="0"/>
              <a:t> (Since &lt;x, y&gt; is a real number)   = (Ay)</a:t>
            </a:r>
            <a:r>
              <a:rPr lang="en-US" baseline="30000" dirty="0"/>
              <a:t>T</a:t>
            </a:r>
            <a:r>
              <a:rPr lang="en-US" dirty="0"/>
              <a:t> X = (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 err="1"/>
              <a:t>A</a:t>
            </a:r>
            <a:r>
              <a:rPr lang="en-US" baseline="30000" dirty="0" err="1"/>
              <a:t>T</a:t>
            </a:r>
            <a:r>
              <a:rPr lang="en-US" dirty="0"/>
              <a:t>)x = (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 err="1"/>
              <a:t>A</a:t>
            </a:r>
            <a:r>
              <a:rPr lang="en-US" dirty="0"/>
              <a:t>)x = 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/>
              <a:t>(Ax) = &lt;y, x&gt; [The last two steps follow since A is symmetric and matrix multiplication  is associative.]</a:t>
            </a:r>
          </a:p>
          <a:p>
            <a:endParaRPr lang="en-US" dirty="0"/>
          </a:p>
          <a:p>
            <a:r>
              <a:rPr lang="en-US" dirty="0"/>
              <a:t>&lt;(</a:t>
            </a:r>
            <a:r>
              <a:rPr lang="en-US" dirty="0" err="1"/>
              <a:t>ax+by</a:t>
            </a:r>
            <a:r>
              <a:rPr lang="en-US" dirty="0"/>
              <a:t>) , z&gt; = (ax +by)</a:t>
            </a:r>
            <a:r>
              <a:rPr lang="en-US" baseline="30000" dirty="0"/>
              <a:t>T </a:t>
            </a:r>
            <a:r>
              <a:rPr lang="en-US" dirty="0"/>
              <a:t>Az = (</a:t>
            </a:r>
            <a:r>
              <a:rPr lang="en-US" dirty="0" err="1"/>
              <a:t>ax</a:t>
            </a:r>
            <a:r>
              <a:rPr lang="en-US" baseline="30000" dirty="0" err="1"/>
              <a:t>T</a:t>
            </a:r>
            <a:r>
              <a:rPr lang="en-US" dirty="0"/>
              <a:t>+ </a:t>
            </a:r>
            <a:r>
              <a:rPr lang="en-US" dirty="0" err="1"/>
              <a:t>by</a:t>
            </a:r>
            <a:r>
              <a:rPr lang="en-US" baseline="30000" dirty="0" err="1"/>
              <a:t>T</a:t>
            </a:r>
            <a:r>
              <a:rPr lang="en-US" dirty="0"/>
              <a:t>)Az </a:t>
            </a:r>
          </a:p>
          <a:p>
            <a:r>
              <a:rPr lang="en-US" dirty="0"/>
              <a:t>                                           = a(</a:t>
            </a: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dirty="0" err="1"/>
              <a:t>Az</a:t>
            </a:r>
            <a:r>
              <a:rPr lang="en-US" dirty="0"/>
              <a:t>) + b(</a:t>
            </a:r>
            <a:r>
              <a:rPr lang="en-US" dirty="0" err="1"/>
              <a:t>y</a:t>
            </a:r>
            <a:r>
              <a:rPr lang="en-US" baseline="30000" dirty="0" err="1"/>
              <a:t>T</a:t>
            </a:r>
            <a:r>
              <a:rPr lang="en-US" dirty="0" err="1"/>
              <a:t>Az</a:t>
            </a:r>
            <a:r>
              <a:rPr lang="en-US" dirty="0"/>
              <a:t>)</a:t>
            </a:r>
          </a:p>
          <a:p>
            <a:r>
              <a:rPr lang="en-US" dirty="0"/>
              <a:t>                                           = a&lt;x, z&gt; + b&lt;y, z&gt;</a:t>
            </a:r>
          </a:p>
          <a:p>
            <a:r>
              <a:rPr lang="en-US" dirty="0"/>
              <a:t>Similarly one can prove </a:t>
            </a:r>
          </a:p>
          <a:p>
            <a:r>
              <a:rPr lang="en-US" dirty="0"/>
              <a:t>&lt;x, ay + </a:t>
            </a:r>
            <a:r>
              <a:rPr lang="en-US" dirty="0" err="1"/>
              <a:t>bz</a:t>
            </a:r>
            <a:r>
              <a:rPr lang="en-US" dirty="0"/>
              <a:t>&gt; = a&lt;x, y&gt; + b&lt;y, z&gt;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97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5F21-9601-4F00-9682-B3A94038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226E2-AC7B-4F49-9BD2-670CDF9A2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650" y="739775"/>
            <a:ext cx="3902710" cy="2031325"/>
          </a:xfrm>
        </p:spPr>
        <p:txBody>
          <a:bodyPr/>
          <a:lstStyle/>
          <a:p>
            <a:r>
              <a:rPr lang="en-US" dirty="0"/>
              <a:t> Now &lt;x, x&gt; = </a:t>
            </a: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dirty="0" err="1"/>
              <a:t>Ax</a:t>
            </a:r>
            <a:r>
              <a:rPr lang="en-US" dirty="0"/>
              <a:t> &gt; 0 if x ≠ 0. Since A is positive definite.</a:t>
            </a:r>
          </a:p>
          <a:p>
            <a:r>
              <a:rPr lang="en-US" dirty="0"/>
              <a:t>Also &lt;x, x&gt; = 0 if and only if x = 0.</a:t>
            </a:r>
          </a:p>
          <a:p>
            <a:endParaRPr lang="en-US" dirty="0"/>
          </a:p>
          <a:p>
            <a:r>
              <a:rPr lang="en-US" dirty="0"/>
              <a:t>Converse of this result is also true, namely if &lt; &gt; is an inner product on R</a:t>
            </a:r>
            <a:r>
              <a:rPr lang="en-US" baseline="30000" dirty="0"/>
              <a:t>n</a:t>
            </a:r>
            <a:r>
              <a:rPr lang="en-US" dirty="0"/>
              <a:t> then there exists a </a:t>
            </a:r>
            <a:r>
              <a:rPr lang="en-US" dirty="0" err="1"/>
              <a:t>nxn</a:t>
            </a:r>
            <a:r>
              <a:rPr lang="en-US" dirty="0"/>
              <a:t> symmetric positive definite matrix A such that &lt;x, y&gt; = </a:t>
            </a: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dirty="0" err="1"/>
              <a:t>Ay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theorem can be generalized for any general metric space V which we sate and prove in the following slides.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314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Symmetric,</a:t>
            </a:r>
            <a:r>
              <a:rPr spc="185" dirty="0"/>
              <a:t> </a:t>
            </a:r>
            <a:r>
              <a:rPr spc="-10" dirty="0"/>
              <a:t>positive-definite</a:t>
            </a:r>
            <a:r>
              <a:rPr spc="185" dirty="0"/>
              <a:t> </a:t>
            </a:r>
            <a:r>
              <a:rPr spc="-10" dirty="0"/>
              <a:t>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45694" y="926387"/>
                <a:ext cx="4091304" cy="1777923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14300" marR="8128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b="1" spc="-30" dirty="0">
                    <a:latin typeface="Arial"/>
                    <a:cs typeface="Arial"/>
                  </a:rPr>
                  <a:t>Theorem</a:t>
                </a:r>
                <a:r>
                  <a:rPr lang="en-US" sz="1100" spc="-30" dirty="0">
                    <a:latin typeface="Tahoma"/>
                    <a:cs typeface="Tahoma"/>
                  </a:rPr>
                  <a:t>:</a:t>
                </a:r>
                <a:r>
                  <a:rPr lang="en-US" sz="1100" spc="100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Tahoma"/>
                    <a:cs typeface="Tahoma"/>
                  </a:rPr>
                  <a:t>For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a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real-</a:t>
                </a:r>
                <a:r>
                  <a:rPr lang="en-US" sz="1100" spc="-40" dirty="0">
                    <a:latin typeface="Tahoma"/>
                    <a:cs typeface="Tahoma"/>
                  </a:rPr>
                  <a:t>valued,</a:t>
                </a:r>
                <a:r>
                  <a:rPr lang="en-US" sz="1100" spc="-1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finite-dimensional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vector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60" dirty="0">
                    <a:latin typeface="Tahoma"/>
                    <a:cs typeface="Tahoma"/>
                  </a:rPr>
                  <a:t>space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V</a:t>
                </a:r>
                <a:r>
                  <a:rPr lang="en-US" sz="1100" i="1" spc="175" dirty="0">
                    <a:latin typeface="Arial"/>
                    <a:cs typeface="Arial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and </a:t>
                </a:r>
                <a:r>
                  <a:rPr lang="en-US" sz="1100" dirty="0">
                    <a:latin typeface="Tahoma"/>
                    <a:cs typeface="Tahoma"/>
                  </a:rPr>
                  <a:t>an</a:t>
                </a:r>
                <a:r>
                  <a:rPr lang="en-US" sz="1100" spc="-50" dirty="0">
                    <a:latin typeface="Tahoma"/>
                    <a:cs typeface="Tahoma"/>
                  </a:rPr>
                  <a:t> </a:t>
                </a:r>
                <a:r>
                  <a:rPr lang="en-US" sz="1100" spc="-65" dirty="0">
                    <a:latin typeface="Tahoma"/>
                    <a:cs typeface="Tahoma"/>
                  </a:rPr>
                  <a:t>ordered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basis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B</a:t>
                </a:r>
                <a:r>
                  <a:rPr lang="en-US" sz="1100" i="1" spc="114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of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i="1" spc="-20" dirty="0">
                    <a:latin typeface="Arial"/>
                    <a:cs typeface="Arial"/>
                  </a:rPr>
                  <a:t>V</a:t>
                </a:r>
                <a:r>
                  <a:rPr lang="en-US" sz="1100" i="1" spc="-130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,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it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holds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that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Cambria"/>
                    <a:cs typeface="Cambria"/>
                  </a:rPr>
                  <a:t>⟨</a:t>
                </a:r>
                <a:r>
                  <a:rPr lang="en-US" sz="1100" i="1" spc="-20" dirty="0">
                    <a:latin typeface="Bookman Old Style"/>
                    <a:cs typeface="Bookman Old Style"/>
                  </a:rPr>
                  <a:t>.,</a:t>
                </a:r>
                <a:r>
                  <a:rPr lang="en-US" sz="1100" i="1" spc="-15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i="1" dirty="0">
                    <a:latin typeface="Bookman Old Style"/>
                    <a:cs typeface="Bookman Old Style"/>
                  </a:rPr>
                  <a:t>.</a:t>
                </a:r>
                <a:r>
                  <a:rPr lang="en-US" sz="1100" dirty="0">
                    <a:latin typeface="Cambria"/>
                    <a:cs typeface="Cambria"/>
                  </a:rPr>
                  <a:t>⟩</a:t>
                </a:r>
                <a:r>
                  <a:rPr lang="en-US" sz="1100" spc="40" dirty="0">
                    <a:latin typeface="Cambria"/>
                    <a:cs typeface="Cambria"/>
                  </a:rPr>
                  <a:t> </a:t>
                </a:r>
                <a:r>
                  <a:rPr lang="en-US" sz="1100" spc="-90" dirty="0">
                    <a:latin typeface="Tahoma"/>
                    <a:cs typeface="Tahoma"/>
                  </a:rPr>
                  <a:t>:</a:t>
                </a:r>
                <a:r>
                  <a:rPr lang="en-US" sz="1100" spc="-40" dirty="0">
                    <a:latin typeface="Tahoma"/>
                    <a:cs typeface="Tahom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V</a:t>
                </a:r>
                <a:r>
                  <a:rPr lang="en-US" sz="1100" i="1" spc="80" dirty="0">
                    <a:latin typeface="Arial"/>
                    <a:cs typeface="Arial"/>
                  </a:rPr>
                  <a:t> </a:t>
                </a:r>
                <a:r>
                  <a:rPr lang="en-US" sz="1100" spc="229" dirty="0">
                    <a:latin typeface="Cambria"/>
                    <a:cs typeface="Cambria"/>
                  </a:rPr>
                  <a:t>×</a:t>
                </a:r>
                <a:r>
                  <a:rPr lang="en-US" sz="1100" spc="-15" dirty="0">
                    <a:latin typeface="Cambria"/>
                    <a:cs typeface="Cambria"/>
                  </a:rPr>
                  <a:t> </a:t>
                </a:r>
                <a:r>
                  <a:rPr lang="en-US" sz="1100" i="1" dirty="0">
                    <a:latin typeface="Arial"/>
                    <a:cs typeface="Arial"/>
                  </a:rPr>
                  <a:t>V</a:t>
                </a:r>
                <a:r>
                  <a:rPr lang="en-US" sz="1100" i="1" spc="135" dirty="0">
                    <a:latin typeface="Arial"/>
                    <a:cs typeface="Arial"/>
                  </a:rPr>
                  <a:t> </a:t>
                </a:r>
                <a:r>
                  <a:rPr lang="en-US" sz="1100" spc="155" dirty="0">
                    <a:latin typeface="Cambria"/>
                    <a:cs typeface="Cambria"/>
                  </a:rPr>
                  <a:t>→</a:t>
                </a:r>
                <a:r>
                  <a:rPr lang="en-US" sz="1100" spc="40" dirty="0">
                    <a:latin typeface="Cambria"/>
                    <a:cs typeface="Cambria"/>
                  </a:rPr>
                  <a:t> </a:t>
                </a:r>
                <a:r>
                  <a:rPr lang="en-US" sz="1100" dirty="0">
                    <a:latin typeface="Century"/>
                    <a:cs typeface="Century"/>
                  </a:rPr>
                  <a:t>R</a:t>
                </a:r>
                <a:r>
                  <a:rPr lang="en-US" sz="1100" spc="30" dirty="0">
                    <a:latin typeface="Century"/>
                    <a:cs typeface="Century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an </a:t>
                </a:r>
                <a:r>
                  <a:rPr lang="en-US" sz="1100" spc="-30" dirty="0">
                    <a:latin typeface="Tahoma"/>
                    <a:cs typeface="Tahoma"/>
                  </a:rPr>
                  <a:t>inner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product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if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35" dirty="0">
                    <a:latin typeface="Tahoma"/>
                    <a:cs typeface="Tahoma"/>
                  </a:rPr>
                  <a:t>and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Tahoma"/>
                    <a:cs typeface="Tahoma"/>
                  </a:rPr>
                  <a:t>only</a:t>
                </a:r>
                <a:r>
                  <a:rPr lang="en-US" sz="1100" spc="-3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if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there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exists </a:t>
                </a:r>
                <a:r>
                  <a:rPr lang="en-US" sz="1100" dirty="0">
                    <a:latin typeface="Tahoma"/>
                    <a:cs typeface="Tahoma"/>
                  </a:rPr>
                  <a:t>a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symmetric,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positive </a:t>
                </a:r>
                <a:r>
                  <a:rPr lang="en-US" sz="1100" spc="-30" dirty="0">
                    <a:latin typeface="Tahoma"/>
                    <a:cs typeface="Tahoma"/>
                  </a:rPr>
                  <a:t>definite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matrix</a:t>
                </a:r>
                <a:r>
                  <a:rPr lang="en-US" sz="1100" spc="10" dirty="0">
                    <a:latin typeface="Tahoma"/>
                    <a:cs typeface="Tahoma"/>
                  </a:rPr>
                  <a:t> </a:t>
                </a:r>
                <a:r>
                  <a:rPr lang="en-US" sz="1050" spc="90" dirty="0">
                    <a:latin typeface="Arial"/>
                    <a:cs typeface="Arial"/>
                  </a:rPr>
                  <a:t>A</a:t>
                </a:r>
                <a:r>
                  <a:rPr lang="en-US" sz="1050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∈</a:t>
                </a:r>
                <a:r>
                  <a:rPr lang="en-US" sz="1100" spc="50" dirty="0">
                    <a:latin typeface="Cambria"/>
                    <a:cs typeface="Cambria"/>
                  </a:rPr>
                  <a:t> </a:t>
                </a:r>
                <a:r>
                  <a:rPr lang="en-US" sz="1100" dirty="0">
                    <a:latin typeface="Century"/>
                    <a:cs typeface="Century"/>
                  </a:rPr>
                  <a:t>R</a:t>
                </a:r>
                <a:r>
                  <a:rPr lang="en-US" sz="1200" i="1" baseline="27777" dirty="0">
                    <a:latin typeface="Arial"/>
                    <a:cs typeface="Arial"/>
                  </a:rPr>
                  <a:t>n</a:t>
                </a:r>
                <a:r>
                  <a:rPr lang="en-US" sz="1200" i="1" baseline="27777" dirty="0">
                    <a:latin typeface="Verdana"/>
                    <a:cs typeface="Verdana"/>
                  </a:rPr>
                  <a:t>×</a:t>
                </a:r>
                <a:r>
                  <a:rPr lang="en-US" sz="1200" i="1" baseline="27777" dirty="0">
                    <a:latin typeface="Arial"/>
                    <a:cs typeface="Arial"/>
                  </a:rPr>
                  <a:t>n</a:t>
                </a:r>
                <a:r>
                  <a:rPr lang="en-US" sz="1200" i="1" spc="292" baseline="27777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&lt;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,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𝑦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&gt;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𝐴</m:t>
                        </m:r>
                      </m:e>
                      <m:sup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𝑇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𝑦</m:t>
                        </m:r>
                      </m:e>
                    </m:acc>
                  </m:oMath>
                </a14:m>
                <a:endParaRPr lang="en-US" sz="1100" dirty="0">
                  <a:latin typeface="Tahoma"/>
                  <a:cs typeface="Tahoma"/>
                </a:endParaRPr>
              </a:p>
              <a:p>
                <a:pPr marL="113664" marR="431165">
                  <a:lnSpc>
                    <a:spcPct val="102699"/>
                  </a:lnSpc>
                </a:pPr>
                <a:r>
                  <a:rPr lang="en-US" sz="1100" b="1" dirty="0">
                    <a:latin typeface="Arial"/>
                    <a:cs typeface="Arial"/>
                  </a:rPr>
                  <a:t>Proof</a:t>
                </a:r>
                <a:r>
                  <a:rPr lang="en-US" sz="1100" dirty="0">
                    <a:latin typeface="Tahoma"/>
                    <a:cs typeface="Tahoma"/>
                  </a:rPr>
                  <a:t>:</a:t>
                </a:r>
                <a:r>
                  <a:rPr lang="en-US" sz="1100" spc="60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One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direction</a:t>
                </a:r>
                <a:r>
                  <a:rPr lang="en-US" sz="1100" spc="-3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→</a:t>
                </a:r>
                <a:r>
                  <a:rPr lang="en-US" sz="1100" dirty="0">
                    <a:latin typeface="Tahoma"/>
                    <a:cs typeface="Tahoma"/>
                  </a:rPr>
                  <a:t>:</a:t>
                </a:r>
                <a:r>
                  <a:rPr lang="en-US" sz="1100" spc="8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Cambria"/>
                    <a:cs typeface="Cambria"/>
                  </a:rPr>
                  <a:t>⟨</a:t>
                </a:r>
                <a:r>
                  <a:rPr lang="en-US" sz="1100" i="1" spc="-20" dirty="0">
                    <a:latin typeface="Bookman Old Style"/>
                    <a:cs typeface="Bookman Old Style"/>
                  </a:rPr>
                  <a:t>.,</a:t>
                </a:r>
                <a:r>
                  <a:rPr lang="en-US" sz="1100" i="1" spc="-15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i="1" dirty="0">
                    <a:latin typeface="Bookman Old Style"/>
                    <a:cs typeface="Bookman Old Style"/>
                  </a:rPr>
                  <a:t>.</a:t>
                </a:r>
                <a:r>
                  <a:rPr lang="en-US" sz="1100" dirty="0">
                    <a:latin typeface="Cambria"/>
                    <a:cs typeface="Cambria"/>
                  </a:rPr>
                  <a:t>⟩</a:t>
                </a:r>
                <a:r>
                  <a:rPr lang="en-US" sz="1100" spc="75" dirty="0">
                    <a:latin typeface="Cambria"/>
                    <a:cs typeface="Cambri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an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inner</a:t>
                </a:r>
                <a:r>
                  <a:rPr lang="en-US" sz="1100" spc="-20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product</a:t>
                </a:r>
                <a:r>
                  <a:rPr lang="en-US" sz="1100" spc="245" dirty="0">
                    <a:latin typeface="Tahoma"/>
                    <a:cs typeface="Tahoma"/>
                  </a:rPr>
                  <a:t> </a:t>
                </a:r>
                <a:r>
                  <a:rPr lang="en-US" sz="1100" spc="245" dirty="0">
                    <a:latin typeface="Tahoma"/>
                    <a:ea typeface="Cambria Math" panose="02040503050406030204" pitchFamily="18" charset="0"/>
                    <a:cs typeface="Tahoma"/>
                  </a:rPr>
                  <a:t>⇒</a:t>
                </a:r>
                <a:r>
                  <a:rPr lang="en-US" sz="1100" spc="340" dirty="0">
                    <a:latin typeface="Cambria"/>
                    <a:cs typeface="Cambria"/>
                  </a:rPr>
                  <a:t> </a:t>
                </a:r>
                <a:r>
                  <a:rPr lang="en-US" sz="1050" spc="90" dirty="0">
                    <a:latin typeface="Arial"/>
                    <a:ea typeface="Cambria Math" panose="02040503050406030204" pitchFamily="18" charset="0"/>
                    <a:cs typeface="Arial"/>
                  </a:rPr>
                  <a:t>there exists a</a:t>
                </a:r>
                <a:r>
                  <a:rPr lang="en-US" sz="1100" spc="-25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symmetric,</a:t>
                </a:r>
                <a:r>
                  <a:rPr lang="en-US" sz="1100" spc="20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positive-</a:t>
                </a:r>
                <a:r>
                  <a:rPr lang="en-US" sz="1100" spc="-30" dirty="0">
                    <a:latin typeface="Tahoma"/>
                    <a:cs typeface="Tahoma"/>
                  </a:rPr>
                  <a:t>definite</a:t>
                </a:r>
                <a:r>
                  <a:rPr lang="en-US" sz="1100" spc="20" dirty="0">
                    <a:latin typeface="Tahoma"/>
                    <a:cs typeface="Tahoma"/>
                  </a:rPr>
                  <a:t> matrix A </a:t>
                </a:r>
                <a:r>
                  <a:rPr lang="en-US" sz="1100" spc="-40" dirty="0">
                    <a:latin typeface="Tahoma"/>
                    <a:cs typeface="Tahoma"/>
                  </a:rPr>
                  <a:t>such</a:t>
                </a:r>
                <a:r>
                  <a:rPr lang="en-US" sz="1100" spc="2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that</a:t>
                </a:r>
                <a:r>
                  <a:rPr lang="en-US" sz="1100" spc="1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&lt;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,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𝑦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&gt;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𝐴</m:t>
                        </m:r>
                      </m:e>
                      <m:sup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𝑇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𝑦</m:t>
                        </m:r>
                      </m:e>
                    </m:acc>
                  </m:oMath>
                </a14:m>
                <a:endParaRPr lang="en-US" sz="1100" dirty="0">
                  <a:latin typeface="Tahoma"/>
                  <a:cs typeface="Tahoma"/>
                </a:endParaRPr>
              </a:p>
              <a:p>
                <a:pPr marL="113664" marR="123825">
                  <a:lnSpc>
                    <a:spcPct val="102600"/>
                  </a:lnSpc>
                </a:pPr>
                <a:r>
                  <a:rPr lang="en-US" sz="1100" spc="-10" dirty="0">
                    <a:latin typeface="Tahoma"/>
                    <a:cs typeface="Tahoma"/>
                  </a:rPr>
                  <a:t>Other </a:t>
                </a:r>
                <a:r>
                  <a:rPr lang="en-US" sz="1100" spc="-25" dirty="0">
                    <a:latin typeface="Tahoma"/>
                    <a:cs typeface="Tahoma"/>
                  </a:rPr>
                  <a:t>direction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←</a:t>
                </a:r>
                <a:r>
                  <a:rPr lang="en-US" sz="1100" dirty="0">
                    <a:latin typeface="Tahoma"/>
                    <a:cs typeface="Tahoma"/>
                  </a:rPr>
                  <a:t>:</a:t>
                </a:r>
                <a:r>
                  <a:rPr lang="en-US" sz="1100" spc="105" dirty="0">
                    <a:latin typeface="Tahoma"/>
                    <a:cs typeface="Tahoma"/>
                  </a:rPr>
                  <a:t> </a:t>
                </a:r>
                <a:r>
                  <a:rPr lang="en-US" sz="1050" spc="90" dirty="0">
                    <a:latin typeface="Arial"/>
                    <a:cs typeface="Arial"/>
                  </a:rPr>
                  <a:t>A</a:t>
                </a:r>
                <a:r>
                  <a:rPr lang="en-US" sz="1050" spc="40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symmetric,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positive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definite</a:t>
                </a:r>
                <a:r>
                  <a:rPr lang="en-US" sz="1100" spc="-5" dirty="0">
                    <a:latin typeface="Tahoma"/>
                    <a:cs typeface="Tahoma"/>
                  </a:rPr>
                  <a:t> </a:t>
                </a:r>
                <a:r>
                  <a:rPr lang="en-US" sz="1100" spc="-40" dirty="0">
                    <a:latin typeface="Tahoma"/>
                    <a:cs typeface="Tahoma"/>
                  </a:rPr>
                  <a:t>such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that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25" dirty="0">
                    <a:latin typeface="Tahoma"/>
                    <a:cs typeface="Tahoma"/>
                  </a:rPr>
                  <a:t>the </a:t>
                </a:r>
                <a:r>
                  <a:rPr lang="en-US" sz="1100" spc="-30" dirty="0">
                    <a:latin typeface="Tahoma"/>
                    <a:cs typeface="Tahoma"/>
                  </a:rPr>
                  <a:t>operation</a:t>
                </a:r>
                <a:r>
                  <a:rPr lang="en-US" sz="1100" spc="-6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Cambria"/>
                    <a:cs typeface="Cambria"/>
                  </a:rPr>
                  <a:t>⟨</a:t>
                </a:r>
                <a:r>
                  <a:rPr lang="en-US" sz="1050" dirty="0">
                    <a:latin typeface="Arial"/>
                    <a:cs typeface="Arial"/>
                  </a:rPr>
                  <a:t>x</a:t>
                </a:r>
                <a:r>
                  <a:rPr lang="en-US" sz="1050" spc="-190" dirty="0">
                    <a:latin typeface="Arial"/>
                    <a:cs typeface="Arial"/>
                  </a:rPr>
                  <a:t> </a:t>
                </a:r>
                <a:r>
                  <a:rPr lang="en-US" sz="1100" i="1" spc="-35" dirty="0">
                    <a:latin typeface="Bookman Old Style"/>
                    <a:cs typeface="Bookman Old Style"/>
                  </a:rPr>
                  <a:t>,</a:t>
                </a:r>
                <a:r>
                  <a:rPr lang="en-US" sz="1100" i="1" spc="-150" dirty="0">
                    <a:latin typeface="Bookman Old Style"/>
                    <a:cs typeface="Bookman Old Style"/>
                  </a:rPr>
                  <a:t> </a:t>
                </a:r>
                <a:r>
                  <a:rPr lang="en-US" sz="1050" spc="75" dirty="0">
                    <a:latin typeface="Arial"/>
                    <a:cs typeface="Arial"/>
                  </a:rPr>
                  <a:t>y</a:t>
                </a:r>
                <a:r>
                  <a:rPr lang="en-US" sz="1100" spc="75" dirty="0">
                    <a:latin typeface="Cambria"/>
                    <a:cs typeface="Cambria"/>
                  </a:rPr>
                  <a:t>⟩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45" dirty="0">
                    <a:latin typeface="Tahoma"/>
                    <a:cs typeface="Tahoma"/>
                  </a:rPr>
                  <a:t>defined</a:t>
                </a:r>
                <a:r>
                  <a:rPr lang="en-US" sz="1100" spc="-10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as</a:t>
                </a:r>
                <a:r>
                  <a:rPr lang="en-US" sz="1100" spc="-1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&lt;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,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𝑦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&gt;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𝐴</m:t>
                        </m:r>
                      </m:e>
                      <m:sup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𝑇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𝑦</m:t>
                        </m:r>
                      </m:e>
                    </m:acc>
                    <m:r>
                      <a:rPr lang="en-IN" sz="1100" b="0" i="1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  <m:r>
                      <a:rPr lang="en-IN" sz="1100" b="0" i="0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/>
                      </a:rPr>
                      <m:t>⇒</m:t>
                    </m:r>
                  </m:oMath>
                </a14:m>
                <a:r>
                  <a:rPr lang="en-US" sz="1100" spc="365" dirty="0">
                    <a:latin typeface="Cambria"/>
                    <a:cs typeface="Cambri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the operation </a:t>
                </a:r>
                <a:r>
                  <a:rPr lang="en-US" sz="1100" spc="-45" dirty="0">
                    <a:latin typeface="Tahoma"/>
                    <a:cs typeface="Tahoma"/>
                  </a:rPr>
                  <a:t>defined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6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an</a:t>
                </a:r>
                <a:r>
                  <a:rPr lang="en-US" sz="1100" spc="-55" dirty="0">
                    <a:latin typeface="Tahoma"/>
                    <a:cs typeface="Tahoma"/>
                  </a:rPr>
                  <a:t> </a:t>
                </a:r>
                <a:r>
                  <a:rPr lang="en-US" sz="1100" spc="-30" dirty="0">
                    <a:latin typeface="Tahoma"/>
                    <a:cs typeface="Tahoma"/>
                  </a:rPr>
                  <a:t>inner</a:t>
                </a:r>
                <a:r>
                  <a:rPr lang="en-US" sz="1100" spc="-50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product.</a:t>
                </a: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94" y="926387"/>
                <a:ext cx="4091304" cy="1777923"/>
              </a:xfrm>
              <a:prstGeom prst="rect">
                <a:avLst/>
              </a:prstGeom>
              <a:blipFill>
                <a:blip r:embed="rId2"/>
                <a:stretch>
                  <a:fillRect t="-2740" r="-894" b="-17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F00D-5B9C-4E60-A415-DE9724FE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Proof (</a:t>
            </a:r>
            <a:r>
              <a:rPr lang="en-IN" dirty="0" err="1"/>
              <a:t>Ctd</a:t>
            </a:r>
            <a:r>
              <a:rPr lang="en-IN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F0D92-7573-A6B6-4F55-3EA58B52B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557" y="815975"/>
            <a:ext cx="3661093" cy="217836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06EC2-756E-C37A-1916-0D3B26E53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0" y="663575"/>
            <a:ext cx="4223067" cy="246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32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10" dirty="0"/>
              <a:t>Proof (</a:t>
            </a:r>
            <a:r>
              <a:rPr lang="en-IN" spc="-10" dirty="0" err="1"/>
              <a:t>Ctd</a:t>
            </a:r>
            <a:r>
              <a:rPr lang="en-IN" spc="-10" dirty="0"/>
              <a:t>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23851" y="739776"/>
            <a:ext cx="3749992" cy="1081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7329" marR="431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entirely </a:t>
            </a:r>
            <a:r>
              <a:rPr sz="1100" spc="-10" dirty="0">
                <a:latin typeface="Tahoma"/>
                <a:cs typeface="Tahoma"/>
              </a:rPr>
              <a:t>determined </a:t>
            </a:r>
            <a:r>
              <a:rPr sz="1100" spc="-35" dirty="0">
                <a:latin typeface="Tahoma"/>
                <a:cs typeface="Tahoma"/>
              </a:rPr>
              <a:t>through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ij</a:t>
            </a:r>
            <a:r>
              <a:rPr sz="1200" i="1" spc="39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2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-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9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ji</a:t>
            </a:r>
            <a:r>
              <a:rPr sz="1200" i="1" spc="39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-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2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10" dirty="0">
                <a:latin typeface="Tahoma"/>
                <a:cs typeface="Tahoma"/>
              </a:rPr>
              <a:t>symmetric.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positive-</a:t>
            </a:r>
            <a:r>
              <a:rPr sz="1100" spc="-40" dirty="0">
                <a:latin typeface="Tahoma"/>
                <a:cs typeface="Tahoma"/>
              </a:rPr>
              <a:t>definiteness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 dirty="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∀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3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\{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55" dirty="0">
                <a:latin typeface="Arial"/>
                <a:cs typeface="Arial"/>
              </a:rPr>
              <a:t>Ax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10" dirty="0"/>
              <a:t>Proof(</a:t>
            </a:r>
            <a:r>
              <a:rPr lang="en-IN" spc="-10" dirty="0" err="1"/>
              <a:t>Ctd</a:t>
            </a:r>
            <a:r>
              <a:rPr lang="en-IN" spc="-10" dirty="0"/>
              <a:t>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71450" y="892173"/>
            <a:ext cx="4114800" cy="127983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6413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900" spc="-20" dirty="0">
                <a:latin typeface="Tahoma"/>
                <a:cs typeface="Tahoma"/>
              </a:rPr>
              <a:t>Now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let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us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consider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30" dirty="0">
                <a:latin typeface="Tahoma"/>
                <a:cs typeface="Tahoma"/>
              </a:rPr>
              <a:t> operation </a:t>
            </a:r>
            <a:r>
              <a:rPr sz="900" spc="-10" dirty="0">
                <a:latin typeface="Tahoma"/>
                <a:cs typeface="Tahoma"/>
              </a:rPr>
              <a:t>op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such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-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</a:t>
            </a:r>
            <a:r>
              <a:rPr sz="900" dirty="0">
                <a:latin typeface="Arial"/>
                <a:cs typeface="Arial"/>
              </a:rPr>
              <a:t>y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=</a:t>
            </a:r>
            <a:r>
              <a:rPr sz="900" spc="-85" dirty="0">
                <a:latin typeface="Tahoma"/>
                <a:cs typeface="Tahoma"/>
              </a:rPr>
              <a:t> </a:t>
            </a:r>
            <a:r>
              <a:rPr sz="900" spc="-145" dirty="0">
                <a:latin typeface="Arial"/>
                <a:cs typeface="Arial"/>
              </a:rPr>
              <a:t>x</a:t>
            </a:r>
            <a:r>
              <a:rPr sz="900" spc="-145" dirty="0">
                <a:latin typeface="Tahoma"/>
                <a:cs typeface="Tahoma"/>
              </a:rPr>
              <a:t>ˆ</a:t>
            </a:r>
            <a:r>
              <a:rPr sz="900" i="1" spc="-217" baseline="27777" dirty="0">
                <a:latin typeface="Arial"/>
                <a:cs typeface="Arial"/>
              </a:rPr>
              <a:t>T</a:t>
            </a:r>
            <a:r>
              <a:rPr sz="900" i="1" spc="-104" baseline="27777" dirty="0">
                <a:latin typeface="Arial"/>
                <a:cs typeface="Arial"/>
              </a:rPr>
              <a:t> </a:t>
            </a:r>
            <a:r>
              <a:rPr sz="900" i="1" spc="-145" dirty="0">
                <a:latin typeface="Arial"/>
                <a:cs typeface="Arial"/>
              </a:rPr>
              <a:t>A</a:t>
            </a:r>
            <a:r>
              <a:rPr sz="900" spc="-145" dirty="0">
                <a:latin typeface="Arial"/>
                <a:cs typeface="Arial"/>
              </a:rPr>
              <a:t>y</a:t>
            </a:r>
            <a:r>
              <a:rPr sz="900" spc="-145" dirty="0">
                <a:latin typeface="Tahoma"/>
                <a:cs typeface="Tahoma"/>
              </a:rPr>
              <a:t>ˆ </a:t>
            </a:r>
            <a:r>
              <a:rPr sz="900" spc="-60" dirty="0">
                <a:latin typeface="Tahoma"/>
                <a:cs typeface="Tahoma"/>
              </a:rPr>
              <a:t>where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90" dirty="0">
                <a:latin typeface="Arial"/>
                <a:cs typeface="Arial"/>
              </a:rPr>
              <a:t>A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symmetric,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positive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definite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matrix.</a:t>
            </a:r>
            <a:endParaRPr sz="900" dirty="0">
              <a:latin typeface="Tahoma"/>
              <a:cs typeface="Tahoma"/>
            </a:endParaRPr>
          </a:p>
          <a:p>
            <a:pPr marL="240029" marR="107950" indent="-177165">
              <a:lnSpc>
                <a:spcPts val="1200"/>
              </a:lnSpc>
              <a:spcBef>
                <a:spcPts val="31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900" dirty="0">
                <a:latin typeface="Tahoma"/>
                <a:cs typeface="Tahoma"/>
              </a:rPr>
              <a:t>We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shall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65" dirty="0">
                <a:latin typeface="Tahoma"/>
                <a:cs typeface="Tahoma"/>
              </a:rPr>
              <a:t>show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that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”op”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inner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product by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60" dirty="0">
                <a:latin typeface="Tahoma"/>
                <a:cs typeface="Tahoma"/>
              </a:rPr>
              <a:t>showing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that </a:t>
            </a:r>
            <a:r>
              <a:rPr sz="900" dirty="0">
                <a:latin typeface="Tahoma"/>
                <a:cs typeface="Tahoma"/>
              </a:rPr>
              <a:t>it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has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all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the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properties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inner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product:</a:t>
            </a:r>
            <a:endParaRPr sz="900" dirty="0">
              <a:latin typeface="Tahoma"/>
              <a:cs typeface="Tahoma"/>
            </a:endParaRPr>
          </a:p>
          <a:p>
            <a:pPr marL="515620" lvl="1" indent="-165735">
              <a:lnSpc>
                <a:spcPts val="1200"/>
              </a:lnSpc>
              <a:spcBef>
                <a:spcPts val="150"/>
              </a:spcBef>
              <a:buClr>
                <a:srgbClr val="3333B2"/>
              </a:buClr>
              <a:buFont typeface="Lucida Sans Unicode"/>
              <a:buChar char="►"/>
              <a:tabLst>
                <a:tab pos="515620" algn="l"/>
              </a:tabLst>
            </a:pPr>
            <a:r>
              <a:rPr sz="1000" dirty="0">
                <a:latin typeface="Tahoma"/>
                <a:cs typeface="Tahoma"/>
              </a:rPr>
              <a:t>”op”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has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symmetry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because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950" dirty="0">
                <a:latin typeface="Arial"/>
                <a:cs typeface="Arial"/>
              </a:rPr>
              <a:t>x</a:t>
            </a:r>
            <a:r>
              <a:rPr sz="950" spc="-17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op</a:t>
            </a:r>
            <a:r>
              <a:rPr sz="950" dirty="0">
                <a:latin typeface="Arial"/>
                <a:cs typeface="Arial"/>
              </a:rPr>
              <a:t>y</a:t>
            </a:r>
            <a:r>
              <a:rPr sz="950" spc="13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950" spc="-130" dirty="0">
                <a:latin typeface="Arial"/>
                <a:cs typeface="Arial"/>
              </a:rPr>
              <a:t>x</a:t>
            </a:r>
            <a:r>
              <a:rPr sz="1000" spc="-130" dirty="0">
                <a:latin typeface="Tahoma"/>
                <a:cs typeface="Tahoma"/>
              </a:rPr>
              <a:t>ˆ</a:t>
            </a:r>
            <a:r>
              <a:rPr sz="1050" i="1" spc="-195" baseline="27777" dirty="0">
                <a:latin typeface="Arial"/>
                <a:cs typeface="Arial"/>
              </a:rPr>
              <a:t>T</a:t>
            </a:r>
            <a:r>
              <a:rPr sz="1050" i="1" spc="-75" baseline="27777" dirty="0">
                <a:latin typeface="Arial"/>
                <a:cs typeface="Arial"/>
              </a:rPr>
              <a:t> </a:t>
            </a:r>
            <a:r>
              <a:rPr sz="1000" i="1" spc="-150" dirty="0">
                <a:latin typeface="Arial"/>
                <a:cs typeface="Arial"/>
              </a:rPr>
              <a:t>A</a:t>
            </a:r>
            <a:r>
              <a:rPr sz="950" spc="-150" dirty="0">
                <a:latin typeface="Arial"/>
                <a:cs typeface="Arial"/>
              </a:rPr>
              <a:t>y</a:t>
            </a:r>
            <a:r>
              <a:rPr sz="1000" spc="-150" dirty="0">
                <a:latin typeface="Tahoma"/>
                <a:cs typeface="Tahoma"/>
              </a:rPr>
              <a:t>ˆ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endParaRPr sz="1000" dirty="0">
              <a:latin typeface="Tahoma"/>
              <a:cs typeface="Tahoma"/>
            </a:endParaRPr>
          </a:p>
          <a:p>
            <a:pPr marL="517525" marR="108585">
              <a:lnSpc>
                <a:spcPts val="1200"/>
              </a:lnSpc>
              <a:spcBef>
                <a:spcPts val="40"/>
              </a:spcBef>
            </a:pPr>
            <a:r>
              <a:rPr sz="950" dirty="0">
                <a:latin typeface="Arial"/>
                <a:cs typeface="Arial"/>
              </a:rPr>
              <a:t>y</a:t>
            </a:r>
            <a:r>
              <a:rPr sz="950" spc="-15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op</a:t>
            </a:r>
            <a:r>
              <a:rPr sz="950" dirty="0">
                <a:latin typeface="Arial"/>
                <a:cs typeface="Arial"/>
              </a:rPr>
              <a:t>x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950" spc="-125" dirty="0">
                <a:latin typeface="Arial"/>
                <a:cs typeface="Arial"/>
              </a:rPr>
              <a:t>y</a:t>
            </a:r>
            <a:r>
              <a:rPr sz="1000" spc="-125" dirty="0">
                <a:latin typeface="Tahoma"/>
                <a:cs typeface="Tahoma"/>
              </a:rPr>
              <a:t>ˆ</a:t>
            </a:r>
            <a:r>
              <a:rPr sz="1050" i="1" spc="-187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spc="-160" dirty="0">
                <a:latin typeface="Arial"/>
                <a:cs typeface="Arial"/>
              </a:rPr>
              <a:t>A</a:t>
            </a:r>
            <a:r>
              <a:rPr sz="950" spc="-160" dirty="0">
                <a:latin typeface="Arial"/>
                <a:cs typeface="Arial"/>
              </a:rPr>
              <a:t>x</a:t>
            </a:r>
            <a:r>
              <a:rPr sz="1000" spc="-160" dirty="0">
                <a:latin typeface="Tahoma"/>
                <a:cs typeface="Tahoma"/>
              </a:rPr>
              <a:t>ˆ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950" spc="-125" dirty="0">
                <a:latin typeface="Arial"/>
                <a:cs typeface="Arial"/>
              </a:rPr>
              <a:t>y</a:t>
            </a:r>
            <a:r>
              <a:rPr sz="1000" spc="-125" dirty="0">
                <a:latin typeface="Tahoma"/>
                <a:cs typeface="Tahoma"/>
              </a:rPr>
              <a:t>ˆ</a:t>
            </a:r>
            <a:r>
              <a:rPr sz="1050" i="1" spc="-187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(</a:t>
            </a:r>
            <a:r>
              <a:rPr sz="1000" i="1" spc="-60" dirty="0">
                <a:latin typeface="Arial"/>
                <a:cs typeface="Arial"/>
              </a:rPr>
              <a:t>A</a:t>
            </a:r>
            <a:r>
              <a:rPr sz="950" spc="-60" dirty="0">
                <a:latin typeface="Arial"/>
                <a:cs typeface="Arial"/>
              </a:rPr>
              <a:t>x</a:t>
            </a:r>
            <a:r>
              <a:rPr sz="1000" spc="-60" dirty="0">
                <a:latin typeface="Tahoma"/>
                <a:cs typeface="Tahoma"/>
              </a:rPr>
              <a:t>ˆ).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 </a:t>
            </a:r>
            <a:r>
              <a:rPr sz="1000" spc="-35" dirty="0">
                <a:latin typeface="Tahoma"/>
                <a:cs typeface="Tahoma"/>
              </a:rPr>
              <a:t>property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dot </a:t>
            </a:r>
            <a:r>
              <a:rPr sz="1000" spc="-10" dirty="0">
                <a:latin typeface="Tahoma"/>
                <a:cs typeface="Tahoma"/>
              </a:rPr>
              <a:t>product </a:t>
            </a:r>
            <a:r>
              <a:rPr sz="1000" spc="-80" dirty="0">
                <a:latin typeface="Tahoma"/>
                <a:cs typeface="Tahoma"/>
              </a:rPr>
              <a:t>we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can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write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950" spc="-125" dirty="0">
                <a:latin typeface="Arial"/>
                <a:cs typeface="Arial"/>
              </a:rPr>
              <a:t>y</a:t>
            </a:r>
            <a:r>
              <a:rPr sz="1000" spc="-125" dirty="0">
                <a:latin typeface="Tahoma"/>
                <a:cs typeface="Tahoma"/>
              </a:rPr>
              <a:t>ˆ</a:t>
            </a:r>
            <a:r>
              <a:rPr sz="1050" i="1" spc="-187" baseline="27777" dirty="0">
                <a:latin typeface="Arial"/>
                <a:cs typeface="Arial"/>
              </a:rPr>
              <a:t>T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1000" spc="-100" dirty="0">
                <a:latin typeface="Tahoma"/>
                <a:cs typeface="Tahoma"/>
              </a:rPr>
              <a:t>(</a:t>
            </a:r>
            <a:r>
              <a:rPr sz="1000" i="1" spc="-100" dirty="0">
                <a:latin typeface="Arial"/>
                <a:cs typeface="Arial"/>
              </a:rPr>
              <a:t>A</a:t>
            </a:r>
            <a:r>
              <a:rPr sz="950" spc="-100" dirty="0">
                <a:latin typeface="Arial"/>
                <a:cs typeface="Arial"/>
              </a:rPr>
              <a:t>x</a:t>
            </a:r>
            <a:r>
              <a:rPr sz="1000" spc="-100" dirty="0">
                <a:latin typeface="Tahoma"/>
                <a:cs typeface="Tahoma"/>
              </a:rPr>
              <a:t>ˆ)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(</a:t>
            </a:r>
            <a:r>
              <a:rPr sz="1000" i="1" spc="-70" dirty="0">
                <a:latin typeface="Arial"/>
                <a:cs typeface="Arial"/>
              </a:rPr>
              <a:t>A</a:t>
            </a:r>
            <a:r>
              <a:rPr sz="950" spc="-70" dirty="0">
                <a:latin typeface="Arial"/>
                <a:cs typeface="Arial"/>
              </a:rPr>
              <a:t>x</a:t>
            </a:r>
            <a:r>
              <a:rPr sz="1000" spc="-70" dirty="0">
                <a:latin typeface="Tahoma"/>
                <a:cs typeface="Tahoma"/>
              </a:rPr>
              <a:t>ˆ)</a:t>
            </a:r>
            <a:r>
              <a:rPr sz="1050" i="1" spc="-104" baseline="27777" dirty="0">
                <a:latin typeface="Arial"/>
                <a:cs typeface="Arial"/>
              </a:rPr>
              <a:t>T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950" spc="-229" dirty="0">
                <a:latin typeface="Arial"/>
                <a:cs typeface="Arial"/>
              </a:rPr>
              <a:t>y</a:t>
            </a:r>
            <a:r>
              <a:rPr sz="1000" spc="-229" dirty="0">
                <a:latin typeface="Tahoma"/>
                <a:cs typeface="Tahoma"/>
              </a:rPr>
              <a:t>ˆ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950" spc="-130" dirty="0">
                <a:latin typeface="Arial"/>
                <a:cs typeface="Arial"/>
              </a:rPr>
              <a:t>x</a:t>
            </a:r>
            <a:r>
              <a:rPr sz="1000" spc="-130" dirty="0">
                <a:latin typeface="Tahoma"/>
                <a:cs typeface="Tahoma"/>
              </a:rPr>
              <a:t>ˆ</a:t>
            </a:r>
            <a:r>
              <a:rPr sz="1050" i="1" spc="-195" baseline="27777" dirty="0">
                <a:latin typeface="Arial"/>
                <a:cs typeface="Arial"/>
              </a:rPr>
              <a:t>T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950" spc="85" dirty="0">
                <a:latin typeface="Arial"/>
                <a:cs typeface="Arial"/>
              </a:rPr>
              <a:t>A</a:t>
            </a:r>
            <a:r>
              <a:rPr sz="1050" i="1" spc="127" baseline="27777" dirty="0">
                <a:latin typeface="Arial"/>
                <a:cs typeface="Arial"/>
              </a:rPr>
              <a:t>T</a:t>
            </a:r>
            <a:r>
              <a:rPr sz="1050" i="1" spc="-75" baseline="27777" dirty="0">
                <a:latin typeface="Arial"/>
                <a:cs typeface="Arial"/>
              </a:rPr>
              <a:t> </a:t>
            </a:r>
            <a:r>
              <a:rPr sz="950" spc="-229" dirty="0">
                <a:latin typeface="Arial"/>
                <a:cs typeface="Arial"/>
              </a:rPr>
              <a:t>y</a:t>
            </a:r>
            <a:r>
              <a:rPr sz="1000" spc="-229" dirty="0">
                <a:latin typeface="Tahoma"/>
                <a:cs typeface="Tahoma"/>
              </a:rPr>
              <a:t>ˆ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950" spc="-130" dirty="0">
                <a:latin typeface="Arial"/>
                <a:cs typeface="Arial"/>
              </a:rPr>
              <a:t>x</a:t>
            </a:r>
            <a:r>
              <a:rPr sz="1000" spc="-130" dirty="0">
                <a:latin typeface="Tahoma"/>
                <a:cs typeface="Tahoma"/>
              </a:rPr>
              <a:t>ˆ</a:t>
            </a:r>
            <a:r>
              <a:rPr sz="1050" i="1" spc="-195" baseline="27777" dirty="0">
                <a:latin typeface="Arial"/>
                <a:cs typeface="Arial"/>
              </a:rPr>
              <a:t>T</a:t>
            </a:r>
            <a:r>
              <a:rPr sz="1050" i="1" spc="-75" baseline="27777" dirty="0">
                <a:latin typeface="Arial"/>
                <a:cs typeface="Arial"/>
              </a:rPr>
              <a:t> </a:t>
            </a:r>
            <a:r>
              <a:rPr sz="950" spc="-120" dirty="0">
                <a:latin typeface="Arial"/>
                <a:cs typeface="Arial"/>
              </a:rPr>
              <a:t>Ay</a:t>
            </a:r>
            <a:r>
              <a:rPr sz="1000" spc="-120" dirty="0">
                <a:latin typeface="Tahoma"/>
                <a:cs typeface="Tahoma"/>
              </a:rPr>
              <a:t>ˆ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where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last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equality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chain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possible </a:t>
            </a:r>
            <a:r>
              <a:rPr sz="1000" spc="-30" dirty="0">
                <a:latin typeface="Tahoma"/>
                <a:cs typeface="Tahoma"/>
              </a:rPr>
              <a:t>since </a:t>
            </a:r>
            <a:r>
              <a:rPr sz="950" spc="100" dirty="0">
                <a:latin typeface="Arial"/>
                <a:cs typeface="Arial"/>
              </a:rPr>
              <a:t>A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symmetric.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0E50-A59E-BC46-01CA-20EF9415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Proof(</a:t>
            </a:r>
            <a:r>
              <a:rPr lang="en-IN" dirty="0" err="1"/>
              <a:t>Ctd</a:t>
            </a:r>
            <a:r>
              <a:rPr lang="en-IN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1F2E6-B304-668F-E561-E82AD0A4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651" y="892175"/>
            <a:ext cx="4051616" cy="1541448"/>
          </a:xfrm>
        </p:spPr>
        <p:txBody>
          <a:bodyPr/>
          <a:lstStyle/>
          <a:p>
            <a:pPr marL="515620" marR="0" lvl="1" indent="-165735" defTabSz="914400" eaLnBrk="1" fontAlgn="auto" latinLnBrk="0" hangingPunct="1">
              <a:lnSpc>
                <a:spcPts val="114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”op”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has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bilinearity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since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see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 </a:t>
            </a:r>
            <a:r>
              <a:rPr kumimoji="0" lang="en-IN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7525" marR="0" lvl="0" indent="0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lang="en-IN" sz="100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lang="en-IN" sz="10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1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ˆ)</a:t>
            </a:r>
            <a:r>
              <a:rPr kumimoji="0" lang="en-IN" sz="1050" b="0" i="1" u="none" strike="noStrike" kern="0" cap="none" spc="-15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6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Ay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95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6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Ay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(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</a:p>
          <a:p>
            <a:pPr marL="517525" marR="0" lvl="0" indent="0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spc="-20" noProof="0" dirty="0">
                <a:solidFill>
                  <a:sysClr val="windowText" lastClr="000000"/>
                </a:solidFill>
              </a:rPr>
              <a:t>Similarly we can prove 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lang="en-IN" sz="100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10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lang="en-IN" sz="10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lang="en-IN" sz="1000" spc="-10" dirty="0">
                <a:solidFill>
                  <a:sysClr val="windowText" lastClr="000000"/>
                </a:solidFill>
              </a:rPr>
              <a:t>x</a:t>
            </a:r>
            <a:r>
              <a:rPr kumimoji="0" lang="en-IN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op(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lang="en-IN" sz="95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517525" marR="0" lvl="0" indent="0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5620" marR="0" lvl="1" indent="-165735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)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</a:t>
            </a:r>
            <a:r>
              <a:rPr kumimoji="0" lang="en-IN" sz="95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 </a:t>
            </a:r>
            <a:r>
              <a:rPr kumimoji="0" lang="en-IN" sz="1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</a:t>
            </a:r>
            <a:r>
              <a:rPr kumimoji="0" lang="en-IN" sz="95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1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ˆ)</a:t>
            </a:r>
            <a:r>
              <a:rPr kumimoji="0" lang="en-IN" sz="1050" b="0" i="1" u="none" strike="noStrike" kern="0" cap="none" spc="-14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5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Az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95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5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Az</a:t>
            </a:r>
            <a:r>
              <a:rPr kumimoji="0" lang="en-IN" sz="10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1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1000" b="0" i="0" u="none" strike="noStrike" kern="0" cap="none" spc="-1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87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60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Az</a:t>
            </a:r>
            <a:r>
              <a:rPr kumimoji="0" lang="en-IN" sz="10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</a:t>
            </a:r>
            <a:r>
              <a:rPr kumimoji="0" lang="en-IN" sz="95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lang="en-IN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lang="en-IN" sz="950" b="0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z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</a:p>
          <a:p>
            <a:pPr marL="349885" marR="0" lvl="1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tabLst>
                <a:tab pos="515620" algn="l"/>
              </a:tabLst>
              <a:defRPr/>
            </a:pPr>
            <a:r>
              <a:rPr lang="en-IN" sz="1000" spc="-20" dirty="0">
                <a:latin typeface="Tahoma"/>
                <a:cs typeface="Tahoma"/>
              </a:rPr>
              <a:t>     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4984" marR="353695" lvl="1" indent="-165735" defTabSz="914400" eaLnBrk="1" fontAlgn="auto" latinLnBrk="0" hangingPunct="1">
              <a:lnSpc>
                <a:spcPts val="1200"/>
              </a:lnSpc>
              <a:spcBef>
                <a:spcPts val="3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7525" algn="l"/>
              </a:tabLst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Finally</a:t>
            </a:r>
            <a:r>
              <a:rPr kumimoji="0" lang="en-IN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if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non-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zero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then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lang="en-IN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non-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zero 	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vector, </a:t>
            </a:r>
            <a:r>
              <a:rPr kumimoji="0" lang="en-IN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</a:t>
            </a:r>
            <a:r>
              <a:rPr kumimoji="0" lang="en-IN" sz="95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950" b="0" i="0" u="none" strike="noStrike" kern="0" cap="none" spc="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00" b="0" i="0" u="none" strike="noStrike" kern="0" cap="none" spc="-13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50" b="0" i="1" u="none" strike="noStrike" kern="0" cap="none" spc="-195" normalizeH="0" baseline="27777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</a:t>
            </a:r>
            <a:r>
              <a:rPr kumimoji="0" lang="en-IN" sz="1050" b="0" i="1" u="none" strike="noStrike" kern="0" cap="none" spc="-82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95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Ax</a:t>
            </a:r>
            <a:r>
              <a:rPr kumimoji="0" lang="en-IN" sz="10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ˆ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1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&gt;</a:t>
            </a:r>
            <a:r>
              <a:rPr kumimoji="0" lang="en-IN" sz="10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 </a:t>
            </a:r>
            <a:r>
              <a:rPr kumimoji="0" lang="en-IN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since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lang="en-IN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are</a:t>
            </a:r>
            <a:r>
              <a:rPr kumimoji="0" lang="en-IN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given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lang="en-IN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950" b="0" i="0" u="none" strike="noStrike" kern="0" cap="none" spc="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lang="en-IN" sz="9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IN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 	</a:t>
            </a:r>
            <a:r>
              <a:rPr kumimoji="0" lang="en-IN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positive-</a:t>
            </a:r>
            <a:r>
              <a:rPr kumimoji="0" lang="en-I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definite.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0434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008" dirty="0"/>
                  <a:t>Now we shall prove a property regarding symmetric, positive definite matrices. In this context first we shall define what is a rank of a matrix.</a:t>
                </a:r>
              </a:p>
              <a:p>
                <a:r>
                  <a:rPr lang="en-US" sz="1008" dirty="0"/>
                  <a:t>Let  </a:t>
                </a:r>
                <a14:m>
                  <m:oMath xmlns:m="http://schemas.openxmlformats.org/officeDocument/2006/math">
                    <m:r>
                      <a:rPr lang="en-US" sz="1008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8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1008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008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08" i="1"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1008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1008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008" i="1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1008" dirty="0"/>
                  <a:t> be an </a:t>
                </a:r>
                <a:r>
                  <a:rPr lang="en-US" sz="1008" dirty="0" err="1"/>
                  <a:t>mxn</a:t>
                </a:r>
                <a:r>
                  <a:rPr lang="en-US" sz="1008" dirty="0"/>
                  <a:t> matrix.</a:t>
                </a:r>
              </a:p>
              <a:p>
                <a:r>
                  <a:rPr lang="en-US" sz="1008" dirty="0"/>
                  <a:t>Span({ (a</a:t>
                </a:r>
                <a:r>
                  <a:rPr lang="en-US" sz="1008" baseline="-25000" dirty="0"/>
                  <a:t>11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12,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1n</a:t>
                </a:r>
                <a:r>
                  <a:rPr lang="en-US" sz="1008" dirty="0"/>
                  <a:t>), (a</a:t>
                </a:r>
                <a:r>
                  <a:rPr lang="en-US" sz="1008" baseline="-25000" dirty="0"/>
                  <a:t>21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22,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2n</a:t>
                </a:r>
                <a:r>
                  <a:rPr lang="en-US" sz="1008" dirty="0"/>
                  <a:t>), …, (a</a:t>
                </a:r>
                <a:r>
                  <a:rPr lang="en-US" sz="1008" baseline="-25000" dirty="0"/>
                  <a:t>m1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m2,</a:t>
                </a:r>
                <a:r>
                  <a:rPr lang="en-US" sz="1008" dirty="0"/>
                  <a:t> …</a:t>
                </a:r>
                <a:r>
                  <a:rPr lang="en-US" sz="1008" dirty="0" err="1"/>
                  <a:t>a</a:t>
                </a:r>
                <a:r>
                  <a:rPr lang="en-US" sz="1008" baseline="-25000" dirty="0" err="1"/>
                  <a:t>mn</a:t>
                </a:r>
                <a:r>
                  <a:rPr lang="en-US" sz="1008" dirty="0"/>
                  <a:t>)}) is a subspace of R</a:t>
                </a:r>
                <a:r>
                  <a:rPr lang="en-US" sz="1008" baseline="30000" dirty="0"/>
                  <a:t>n</a:t>
                </a:r>
                <a:r>
                  <a:rPr lang="en-US" sz="1008" dirty="0"/>
                  <a:t>. It is called Row space of A.</a:t>
                </a:r>
              </a:p>
              <a:p>
                <a:r>
                  <a:rPr lang="en-US" sz="1008" dirty="0"/>
                  <a:t>Span({ (a</a:t>
                </a:r>
                <a:r>
                  <a:rPr lang="en-US" sz="1008" baseline="-25000" dirty="0"/>
                  <a:t>11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21,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m1</a:t>
                </a:r>
                <a:r>
                  <a:rPr lang="en-US" sz="1008" dirty="0"/>
                  <a:t>), (a</a:t>
                </a:r>
                <a:r>
                  <a:rPr lang="en-US" sz="1008" baseline="-25000" dirty="0"/>
                  <a:t>12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22,</a:t>
                </a:r>
                <a:r>
                  <a:rPr lang="en-US" sz="1008" dirty="0"/>
                  <a:t> …a</a:t>
                </a:r>
                <a:r>
                  <a:rPr lang="en-US" sz="1008" baseline="-25000" dirty="0"/>
                  <a:t>m2</a:t>
                </a:r>
                <a:r>
                  <a:rPr lang="en-US" sz="1008" dirty="0"/>
                  <a:t>), …, (a</a:t>
                </a:r>
                <a:r>
                  <a:rPr lang="en-US" sz="1008" baseline="-25000" dirty="0"/>
                  <a:t>1n</a:t>
                </a:r>
                <a:r>
                  <a:rPr lang="en-US" sz="1008" dirty="0"/>
                  <a:t>, a</a:t>
                </a:r>
                <a:r>
                  <a:rPr lang="en-US" sz="1008" baseline="-25000" dirty="0"/>
                  <a:t>2n,</a:t>
                </a:r>
                <a:r>
                  <a:rPr lang="en-US" sz="1008" dirty="0"/>
                  <a:t> …</a:t>
                </a:r>
                <a:r>
                  <a:rPr lang="en-US" sz="1008" dirty="0" err="1"/>
                  <a:t>a</a:t>
                </a:r>
                <a:r>
                  <a:rPr lang="en-US" sz="1008" baseline="-25000" dirty="0" err="1"/>
                  <a:t>mn</a:t>
                </a:r>
                <a:r>
                  <a:rPr lang="en-US" sz="1008" dirty="0"/>
                  <a:t>)}) is a subspace of R</a:t>
                </a:r>
                <a:r>
                  <a:rPr lang="en-US" sz="1008" baseline="30000" dirty="0"/>
                  <a:t>m</a:t>
                </a:r>
                <a:r>
                  <a:rPr lang="en-US" sz="1008" dirty="0"/>
                  <a:t>. It is called column space of A.</a:t>
                </a:r>
              </a:p>
              <a:p>
                <a:r>
                  <a:rPr lang="en-US" sz="1008" dirty="0"/>
                  <a:t>One can prove that dimension of Row space = dimension of column space. This dimension is called rank of the matrix A.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4" t="-2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Rank of a Matrix</a:t>
            </a:r>
          </a:p>
        </p:txBody>
      </p:sp>
    </p:spTree>
    <p:extLst>
      <p:ext uri="{BB962C8B-B14F-4D97-AF65-F5344CB8AC3E}">
        <p14:creationId xmlns:p14="http://schemas.microsoft.com/office/powerpoint/2010/main" val="2533110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matrix A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mr>
                    </m:m>
                  </m:oMath>
                </a14:m>
                <a:r>
                  <a:rPr lang="en-US" dirty="0"/>
                  <a:t>   .  Row space of A = span ({(1, -2, 4, 0), (2, -1, 5, 0), (-1, 3, -3, 0)}) = W</a:t>
                </a:r>
              </a:p>
              <a:p>
                <a:r>
                  <a:rPr lang="en-US" dirty="0"/>
                  <a:t>{(1, -2, 4, 0), (2, -1, 5, 0), (-1, 3, -3, 0)} is linearly independent, hence it is a basis of W. dim of W = 3.</a:t>
                </a:r>
              </a:p>
              <a:p>
                <a:r>
                  <a:rPr lang="en-US" dirty="0"/>
                  <a:t>Column space of A = span ({(1,2,-1), (-2,-1,3), (4,5,-3), (0,0,0)}) = U.</a:t>
                </a:r>
              </a:p>
              <a:p>
                <a:r>
                  <a:rPr lang="en-US" dirty="0"/>
                  <a:t>Verify that {(1,2,-1), (-2,-1,3), (4,5,-3)} is a basis of U and hence dim of U is 3.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r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ouble Bracket 3"/>
          <p:cNvSpPr/>
          <p:nvPr/>
        </p:nvSpPr>
        <p:spPr>
          <a:xfrm>
            <a:off x="1844040" y="773577"/>
            <a:ext cx="1152525" cy="61468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61040" rtl="0"/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</p:spTree>
    <p:extLst>
      <p:ext uri="{BB962C8B-B14F-4D97-AF65-F5344CB8AC3E}">
        <p14:creationId xmlns:p14="http://schemas.microsoft.com/office/powerpoint/2010/main" val="147785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000" dirty="0"/>
              <a:t>Theorem : The nonzero row vectors of a matrix A that is in  echelon form is a basis for the row space of A. The rank of A is the number of nonzero row vectors.</a:t>
            </a:r>
          </a:p>
          <a:p>
            <a:endParaRPr lang="en-US" sz="1000" dirty="0"/>
          </a:p>
          <a:p>
            <a:r>
              <a:rPr lang="en-US" sz="1000" dirty="0"/>
              <a:t>                                       </a:t>
            </a:r>
          </a:p>
          <a:p>
            <a:r>
              <a:rPr lang="en-US" sz="1000" dirty="0"/>
              <a:t>                                            These matrices are in echelon form.</a:t>
            </a:r>
          </a:p>
          <a:p>
            <a:r>
              <a:rPr lang="en-US" sz="1000" dirty="0"/>
              <a:t> </a:t>
            </a:r>
          </a:p>
          <a:p>
            <a:r>
              <a:rPr lang="en-US" sz="1000" dirty="0"/>
              <a:t>Hance rank of the first matrix is 4 and the second matrix is 3.</a:t>
            </a:r>
          </a:p>
          <a:p>
            <a:endParaRPr lang="en-US" sz="1000" dirty="0"/>
          </a:p>
          <a:p>
            <a:r>
              <a:rPr lang="en-US" sz="1000" dirty="0"/>
              <a:t>Theorem: An </a:t>
            </a:r>
            <a:r>
              <a:rPr lang="en-US" sz="1000" dirty="0" err="1"/>
              <a:t>nxn</a:t>
            </a:r>
            <a:r>
              <a:rPr lang="en-US" sz="1000" dirty="0"/>
              <a:t> matrix A has rank n  if and only if the homogenous equation AX = 0 has only the trivial solution(in other words the null space of A only 0 vector).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Method to find the rank of a matrix.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98" y="1423035"/>
            <a:ext cx="1389498" cy="5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39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10" dirty="0"/>
              <a:t>Properties of Symmetric , Positive Definite Matrices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21957" y="987626"/>
            <a:ext cx="3756025" cy="211019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5" dirty="0">
                <a:latin typeface="Tahoma"/>
                <a:cs typeface="Tahoma"/>
              </a:rPr>
              <a:t>Can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symmetric,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positive-</a:t>
            </a:r>
            <a:r>
              <a:rPr sz="1100" spc="-40" dirty="0">
                <a:latin typeface="Tahoma"/>
                <a:cs typeface="Tahoma"/>
              </a:rPr>
              <a:t>definite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lang="en-IN" sz="1100" spc="20" dirty="0" err="1">
                <a:latin typeface="Tahoma"/>
                <a:cs typeface="Tahoma"/>
              </a:rPr>
              <a:t>nxn</a:t>
            </a:r>
            <a:r>
              <a:rPr lang="en-IN"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matrix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lang="en-IN" sz="1100" spc="20" dirty="0">
                <a:latin typeface="Tahoma"/>
                <a:cs typeface="Tahoma"/>
              </a:rPr>
              <a:t>rank </a:t>
            </a:r>
            <a:r>
              <a:rPr sz="1100" spc="-60" dirty="0">
                <a:latin typeface="Tahoma"/>
                <a:cs typeface="Tahoma"/>
              </a:rPr>
              <a:t>less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lang="en-IN" sz="1100" spc="-15" dirty="0">
                <a:latin typeface="Tahoma"/>
                <a:cs typeface="Tahoma"/>
              </a:rPr>
              <a:t>n</a:t>
            </a:r>
            <a:r>
              <a:rPr sz="1100" spc="-35" dirty="0">
                <a:latin typeface="Tahoma"/>
                <a:cs typeface="Tahoma"/>
              </a:rPr>
              <a:t>?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050" spc="15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spc="55" dirty="0">
                <a:latin typeface="Arial"/>
                <a:cs typeface="Arial"/>
              </a:rPr>
              <a:t>Ax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3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for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all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non-</a:t>
            </a:r>
            <a:r>
              <a:rPr sz="1100" spc="-50" dirty="0">
                <a:latin typeface="Tahoma"/>
                <a:cs typeface="Tahoma"/>
              </a:rPr>
              <a:t>zero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050" spc="35" dirty="0">
                <a:latin typeface="Arial"/>
                <a:cs typeface="Arial"/>
              </a:rPr>
              <a:t>x</a:t>
            </a:r>
            <a:r>
              <a:rPr sz="1100" spc="35" dirty="0">
                <a:latin typeface="Tahoma"/>
                <a:cs typeface="Tahoma"/>
              </a:rPr>
              <a:t>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lang="en-US" sz="1100" spc="-20" dirty="0">
                <a:latin typeface="Tahoma"/>
                <a:cs typeface="Tahoma"/>
              </a:rPr>
              <a:t>Thus the homogenous equation Ax = 0 has only a trivial solution. This means in the reduce row echelon form A, each column must have a pivot element. This means there is no  zero row in the reduce row echelon form A 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lang="en-IN" sz="1100" spc="140" dirty="0">
                <a:latin typeface="Tahoma"/>
                <a:cs typeface="Tahoma"/>
              </a:rPr>
              <a:t>Hence A must have rank n.</a:t>
            </a:r>
          </a:p>
          <a:p>
            <a:pPr marL="37464" marR="30480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tabLst>
                <a:tab pos="214629" algn="l"/>
              </a:tabLst>
            </a:pPr>
            <a:endParaRPr lang="en-IN" sz="1100" spc="140" dirty="0">
              <a:latin typeface="Tahoma"/>
              <a:cs typeface="Tahoma"/>
            </a:endParaRPr>
          </a:p>
          <a:p>
            <a:pPr marL="214629" marR="30480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What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said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diagonal</a:t>
            </a:r>
            <a:r>
              <a:rPr sz="1100" spc="-50" dirty="0">
                <a:latin typeface="Tahoma"/>
                <a:cs typeface="Tahoma"/>
              </a:rPr>
              <a:t> elements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a</a:t>
            </a:r>
            <a:endParaRPr sz="1100" dirty="0">
              <a:latin typeface="Tahoma"/>
              <a:cs typeface="Tahoma"/>
            </a:endParaRPr>
          </a:p>
          <a:p>
            <a:pPr marL="214629" marR="49530">
              <a:lnSpc>
                <a:spcPct val="102600"/>
              </a:lnSpc>
            </a:pP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-10" dirty="0">
                <a:latin typeface="Tahoma"/>
                <a:cs typeface="Tahoma"/>
              </a:rPr>
              <a:t> matrix?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Arial"/>
                <a:cs typeface="Arial"/>
              </a:rPr>
              <a:t>e</a:t>
            </a:r>
            <a:r>
              <a:rPr sz="1200" i="1" spc="-15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Ae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92" baseline="-10416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0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e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canonical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basis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ii</a:t>
            </a:r>
            <a:r>
              <a:rPr sz="1200" i="1" spc="254" baseline="-10416" dirty="0">
                <a:latin typeface="Arial"/>
                <a:cs typeface="Arial"/>
              </a:rPr>
              <a:t> </a:t>
            </a:r>
            <a:r>
              <a:rPr sz="1100" i="1" spc="175" dirty="0">
                <a:latin typeface="Bookman Old Style"/>
                <a:cs typeface="Bookman Old Style"/>
              </a:rPr>
              <a:t>&gt;</a:t>
            </a:r>
            <a:r>
              <a:rPr sz="1100" i="1" spc="-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0.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diagonal entries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strictly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positive.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Norms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068" y="785507"/>
            <a:ext cx="34925" cy="13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4606" y="785507"/>
            <a:ext cx="34925" cy="1397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938830" y="785507"/>
            <a:ext cx="142875" cy="292100"/>
            <a:chOff x="2938830" y="785507"/>
            <a:chExt cx="142875" cy="292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8830" y="785507"/>
              <a:ext cx="34925" cy="139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6590" y="785507"/>
              <a:ext cx="34925" cy="139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1243" y="937336"/>
              <a:ext cx="34925" cy="1397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2818" y="937336"/>
            <a:ext cx="34925" cy="1397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321839" y="1275829"/>
            <a:ext cx="73660" cy="279400"/>
            <a:chOff x="2321839" y="1275829"/>
            <a:chExt cx="73660" cy="2794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1839" y="1275829"/>
              <a:ext cx="31750" cy="127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3495" y="1427657"/>
              <a:ext cx="31750" cy="1270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910136" y="1275829"/>
            <a:ext cx="73660" cy="279400"/>
            <a:chOff x="2910136" y="1275829"/>
            <a:chExt cx="73660" cy="2794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0136" y="1275829"/>
              <a:ext cx="31750" cy="127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1784" y="1427657"/>
              <a:ext cx="31750" cy="127000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048546" y="1275829"/>
            <a:ext cx="76200" cy="279400"/>
            <a:chOff x="3048546" y="1275829"/>
            <a:chExt cx="76200" cy="27940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546" y="1275829"/>
              <a:ext cx="31750" cy="127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602" y="1427657"/>
              <a:ext cx="31750" cy="127000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0372" y="1579486"/>
            <a:ext cx="31750" cy="12700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992871" y="1427657"/>
            <a:ext cx="38100" cy="279400"/>
            <a:chOff x="1992871" y="1427657"/>
            <a:chExt cx="38100" cy="27940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2871" y="1427657"/>
              <a:ext cx="31750" cy="1270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8789" y="1579486"/>
              <a:ext cx="31750" cy="127000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2534069" y="1275829"/>
            <a:ext cx="93345" cy="431165"/>
            <a:chOff x="2534069" y="1275829"/>
            <a:chExt cx="93345" cy="43116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4069" y="1275829"/>
              <a:ext cx="31750" cy="127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5517" y="1427657"/>
              <a:ext cx="31750" cy="127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9908" y="1579486"/>
              <a:ext cx="31750" cy="12700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2708338" y="1427657"/>
            <a:ext cx="57785" cy="279400"/>
            <a:chOff x="2708338" y="1427657"/>
            <a:chExt cx="57785" cy="27940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3878" y="1427657"/>
              <a:ext cx="31750" cy="1270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8338" y="1579486"/>
              <a:ext cx="31750" cy="1270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96557" y="739037"/>
            <a:ext cx="3832860" cy="9740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40029" marR="55880" lvl="0" indent="-177165" algn="just" defTabSz="914400" eaLnBrk="1" fontAlgn="auto" latinLnBrk="0" hangingPunct="1">
              <a:lnSpc>
                <a:spcPts val="1200"/>
              </a:lnSpc>
              <a:spcBef>
                <a:spcPts val="229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40029" algn="l"/>
              </a:tabLst>
              <a:defRPr/>
            </a:pPr>
            <a:r>
              <a:rPr kumimoji="0" sz="11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norm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function</a:t>
            </a:r>
            <a:r>
              <a:rPr kumimoji="0" sz="1100" b="0" i="0" u="none" strike="noStrike" kern="0" cap="none" spc="5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.</a:t>
            </a:r>
            <a:r>
              <a:rPr kumimoji="0" sz="1100" b="0" i="1" u="none" strike="noStrike" kern="0" cap="none" spc="50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: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1100" b="0" i="1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→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/>
                <a:cs typeface="Century"/>
              </a:rPr>
              <a:t>R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,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→</a:t>
            </a:r>
            <a:r>
              <a:rPr kumimoji="0" sz="1100" b="0" i="0" u="none" strike="noStrike" kern="0" cap="none" spc="5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which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assigns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each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length</a:t>
            </a:r>
            <a:r>
              <a:rPr kumimoji="0" sz="11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7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such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all </a:t>
            </a:r>
            <a:r>
              <a:rPr kumimoji="0" sz="1100" b="0" i="1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λ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/>
                <a:cs typeface="Century"/>
              </a:rPr>
              <a:t>R</a:t>
            </a:r>
            <a:r>
              <a:rPr kumimoji="0" sz="11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"/>
                <a:cs typeface="Century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-1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,</a:t>
            </a:r>
            <a:r>
              <a:rPr kumimoji="0" sz="1100" b="0" i="1" u="none" strike="noStrike" kern="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 </a:t>
            </a:r>
            <a:r>
              <a:rPr kumimoji="0" sz="105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105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∈</a:t>
            </a:r>
            <a:r>
              <a:rPr kumimoji="0" sz="11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1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1100" b="0" i="1" u="none" strike="noStrike" kern="0" cap="none" spc="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following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properties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hold: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515620" marR="0" lvl="1" indent="-165735" defTabSz="914400" eaLnBrk="1" fontAlgn="auto" latinLnBrk="0" hangingPunct="1">
              <a:lnSpc>
                <a:spcPts val="1200"/>
              </a:lnSpc>
              <a:spcBef>
                <a:spcPts val="14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Absolutely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homogeneous:</a:t>
            </a:r>
            <a:r>
              <a:rPr kumimoji="0" sz="1000" b="0" i="0" u="none" strike="noStrike" kern="0" cap="none" spc="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</a:t>
            </a:r>
            <a:r>
              <a:rPr kumimoji="0" sz="1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λ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</a:t>
            </a:r>
            <a:r>
              <a:rPr kumimoji="0" sz="10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Bookman Old Style"/>
                <a:cs typeface="Bookman Old Style"/>
              </a:rPr>
              <a:t>λ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|</a:t>
            </a:r>
            <a:r>
              <a:rPr kumimoji="0" lang="en-IN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  </a:t>
            </a:r>
            <a:r>
              <a:rPr kumimoji="0" sz="9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15620" marR="0" lvl="1" indent="-165735" defTabSz="914400" eaLnBrk="1" fontAlgn="auto" latinLnBrk="0" hangingPunct="1">
              <a:lnSpc>
                <a:spcPts val="1195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Triangle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inequality:</a:t>
            </a:r>
            <a:r>
              <a:rPr kumimoji="0" sz="100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95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2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≤</a:t>
            </a:r>
            <a:r>
              <a:rPr kumimoji="0" sz="10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+</a:t>
            </a:r>
            <a:r>
              <a:rPr kumimoji="0" sz="1000" b="0" i="0" u="none" strike="noStrike" kern="0" cap="none" spc="3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9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15620" marR="0" lvl="1" indent="-165735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515620" algn="l"/>
              </a:tabLst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Positive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definite:</a:t>
            </a:r>
            <a:r>
              <a:rPr kumimoji="0" sz="100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2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≥</a:t>
            </a:r>
            <a:r>
              <a:rPr kumimoji="0" sz="10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000" b="0" i="0" u="none" strike="noStrike" kern="0" cap="none" spc="4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0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IN" sz="10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Tahoma"/>
              </a:rPr>
              <a:t>⇔</a:t>
            </a:r>
            <a:r>
              <a:rPr kumimoji="0" sz="10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95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1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5574" y="1908606"/>
            <a:ext cx="34925" cy="13970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7136" y="1908606"/>
            <a:ext cx="34925" cy="13970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094472" y="1772495"/>
            <a:ext cx="270548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94471" y="1865613"/>
            <a:ext cx="2841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84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Σ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61592" y="2042955"/>
            <a:ext cx="30325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=1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78151" y="1921102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4657" y="1862136"/>
            <a:ext cx="216217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marR="0" lvl="0" indent="-177165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02565" algn="l"/>
                <a:tab pos="1393825" algn="l"/>
                <a:tab pos="1953260" algn="l"/>
              </a:tabLst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Manhattan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norm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: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lang="en-IN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lang="en-IN" sz="105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lang="en-IN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     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</a:t>
            </a:r>
            <a:r>
              <a:rPr kumimoji="0" sz="11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1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cs typeface="Cambria"/>
              </a:rPr>
              <a:t>|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cs typeface="Cambri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3214" y="2446591"/>
            <a:ext cx="34925" cy="1397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776" y="2446591"/>
            <a:ext cx="34925" cy="13970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885480" y="245822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34657" y="2400120"/>
            <a:ext cx="1695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marR="0" lvl="0" indent="-177165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02565" algn="l"/>
                <a:tab pos="1311275" algn="l"/>
                <a:tab pos="1561465" algn="l"/>
              </a:tabLst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Euclidean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norm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: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	</a:t>
            </a:r>
            <a:r>
              <a:rPr kumimoji="0" sz="105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288349" y="2264269"/>
            <a:ext cx="200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</a:t>
            </a:r>
            <a:r>
              <a:rPr kumimoji="0" sz="8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36826" y="2422695"/>
            <a:ext cx="3594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r>
              <a:rPr kumimoji="0" sz="1100" b="0" i="0" u="none" strike="noStrike" kern="0" cap="none" spc="-3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Σ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90076" y="2606102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800" b="0" i="1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=1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63647" y="2481261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74366" y="2400120"/>
            <a:ext cx="251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r>
              <a:rPr kumimoji="0" sz="1100" b="0" i="1" u="none" strike="noStrike" kern="0" cap="none" spc="-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0" i="0" u="none" strike="noStrike" kern="0" cap="none" spc="-37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27658640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FD65-4353-23AE-0D6A-CFD8F6A5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2894330" cy="215444"/>
          </a:xfrm>
        </p:spPr>
        <p:txBody>
          <a:bodyPr/>
          <a:lstStyle/>
          <a:p>
            <a:r>
              <a:rPr lang="en-IN" dirty="0"/>
              <a:t>Norms and Inner 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F1C4048-BE35-9C5C-1BD8-3B3F5D7EF4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96557" y="815975"/>
                <a:ext cx="3661093" cy="847348"/>
              </a:xfrm>
            </p:spPr>
            <p:txBody>
              <a:bodyPr/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IN" dirty="0"/>
                  <a:t>Every inner product induces a norm.</a:t>
                </a:r>
              </a:p>
              <a:p>
                <a:r>
                  <a:rPr lang="en-IN" dirty="0"/>
                  <a:t>     For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⃦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⃦=</m:t>
                    </m:r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</m:e>
                    </m:rad>
                  </m:oMath>
                </a14:m>
                <a:r>
                  <a:rPr lang="en-IN" dirty="0"/>
                  <a:t>.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IN" dirty="0"/>
                  <a:t>Every norm does not give rise to an inner product. For example the Manhattan norm.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F1C4048-BE35-9C5C-1BD8-3B3F5D7EF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6557" y="815975"/>
                <a:ext cx="3661093" cy="847348"/>
              </a:xfrm>
              <a:blipFill>
                <a:blip r:embed="rId2"/>
                <a:stretch>
                  <a:fillRect l="-2329" t="-5755" r="-166" b="-9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9DAA6FD-7BB4-A2DB-7F7D-9CCC5CC7E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78" y="1907237"/>
            <a:ext cx="3905250" cy="71307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8BEE78-8F9F-1BEB-95FB-AB7F89A2DC47}"/>
              </a:ext>
            </a:extLst>
          </p:cNvPr>
          <p:cNvCxnSpPr/>
          <p:nvPr/>
        </p:nvCxnSpPr>
        <p:spPr>
          <a:xfrm>
            <a:off x="3067050" y="2187575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227034-BBB6-A159-062F-631CAAE6FBBA}"/>
              </a:ext>
            </a:extLst>
          </p:cNvPr>
          <p:cNvCxnSpPr/>
          <p:nvPr/>
        </p:nvCxnSpPr>
        <p:spPr>
          <a:xfrm>
            <a:off x="3448050" y="2187575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482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dirty="0"/>
              <a:t>Proof of </a:t>
            </a:r>
            <a:r>
              <a:rPr dirty="0"/>
              <a:t>Cauchy-Schwarz</a:t>
            </a:r>
            <a:r>
              <a:rPr spc="405" dirty="0"/>
              <a:t> </a:t>
            </a:r>
            <a:r>
              <a:rPr spc="-10" dirty="0"/>
              <a:t>inequality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13192"/>
            <a:ext cx="376872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8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length</a:t>
            </a:r>
            <a:r>
              <a:rPr sz="1100" spc="-25" dirty="0">
                <a:latin typeface="Tahoma"/>
                <a:cs typeface="Tahoma"/>
              </a:rPr>
              <a:t> 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-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100" i="1" spc="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constant.</a:t>
            </a:r>
            <a:endParaRPr sz="1100">
              <a:latin typeface="Tahoma"/>
              <a:cs typeface="Tahoma"/>
            </a:endParaRPr>
          </a:p>
          <a:p>
            <a:pPr marL="214629" marR="9144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length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greater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25" dirty="0">
                <a:latin typeface="Tahoma"/>
                <a:cs typeface="Tahoma"/>
              </a:rPr>
              <a:t> to </a:t>
            </a:r>
            <a:r>
              <a:rPr sz="1100" spc="-20" dirty="0">
                <a:latin typeface="Tahoma"/>
                <a:cs typeface="Tahoma"/>
              </a:rPr>
              <a:t>zero.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length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970" y="1485925"/>
            <a:ext cx="34925" cy="139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778" y="1485925"/>
            <a:ext cx="34925" cy="139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31667" y="142650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661" y="1439454"/>
            <a:ext cx="31337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235" dirty="0">
                <a:latin typeface="Arial"/>
                <a:cs typeface="Arial"/>
              </a:rPr>
              <a:t> </a:t>
            </a:r>
            <a:r>
              <a:rPr lang="en-US" sz="1050" spc="235" baseline="30000" dirty="0">
                <a:latin typeface="Arial"/>
                <a:cs typeface="Arial"/>
              </a:rPr>
              <a:t>2</a:t>
            </a:r>
            <a:r>
              <a:rPr sz="1050" spc="2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lang="en-IN" sz="1100" spc="459" dirty="0">
                <a:latin typeface="Tahoma"/>
                <a:cs typeface="Tahoma"/>
              </a:rPr>
              <a:t> </a:t>
            </a:r>
            <a:r>
              <a:rPr lang="en-IN"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i="1" spc="-20" dirty="0">
                <a:latin typeface="Bookman Old Style"/>
                <a:cs typeface="Bookman Old Style"/>
              </a:rPr>
              <a:t>α</a:t>
            </a:r>
            <a:r>
              <a:rPr sz="1050" spc="-20" dirty="0">
                <a:latin typeface="Arial"/>
                <a:cs typeface="Arial"/>
              </a:rPr>
              <a:t>v</a:t>
            </a:r>
            <a:r>
              <a:rPr sz="1100" spc="-20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357" y="1729362"/>
            <a:ext cx="3710940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lang="en-US" sz="1100" dirty="0">
                <a:latin typeface="Tahoma"/>
                <a:cs typeface="Tahoma"/>
              </a:rPr>
              <a:t>w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expand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</a:t>
            </a:r>
            <a:endParaRPr sz="1100" dirty="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spc="50" dirty="0">
                <a:latin typeface="Bookman Old Style"/>
                <a:cs typeface="Bookman Old Style"/>
              </a:rPr>
              <a:t>α</a:t>
            </a:r>
            <a:r>
              <a:rPr sz="1050" spc="50" dirty="0">
                <a:latin typeface="Arial"/>
                <a:cs typeface="Arial"/>
              </a:rPr>
              <a:t>v</a:t>
            </a:r>
            <a:r>
              <a:rPr sz="1100" spc="50" dirty="0">
                <a:latin typeface="Tahoma"/>
                <a:cs typeface="Tahoma"/>
              </a:rPr>
              <a:t>)</a:t>
            </a:r>
            <a:r>
              <a:rPr sz="1200" i="1" spc="75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u</a:t>
            </a:r>
            <a:r>
              <a:rPr sz="1200" i="1" spc="135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spc="55" dirty="0">
                <a:latin typeface="Bookman Old Style"/>
                <a:cs typeface="Bookman Old Style"/>
              </a:rPr>
              <a:t>α</a:t>
            </a:r>
            <a:r>
              <a:rPr sz="1050" spc="55" dirty="0">
                <a:latin typeface="Arial"/>
                <a:cs typeface="Arial"/>
              </a:rPr>
              <a:t>u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0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α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</a:t>
            </a:r>
            <a:r>
              <a:rPr sz="1050" spc="16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57" y="204768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B5DAA5-B1AF-C9E1-B4D0-A2A572D10309}"/>
                  </a:ext>
                </a:extLst>
              </p:cNvPr>
              <p:cNvSpPr txBox="1"/>
              <p:nvPr/>
            </p:nvSpPr>
            <p:spPr>
              <a:xfrm>
                <a:off x="557402" y="2118558"/>
                <a:ext cx="3633280" cy="337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dirty="0"/>
                  <a:t>Taking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sSup>
                          <m:sSup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IN" sz="1000" dirty="0"/>
                  <a:t>we get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|&lt;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1000" b="0" i="1" smtClean="0">
                        <a:latin typeface="Cambria Math" panose="02040503050406030204" pitchFamily="18" charset="0"/>
                      </a:rPr>
                      <m:t>&gt;|≤     ⃦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⃦</m:t>
                    </m:r>
                    <m:r>
                      <a:rPr lang="en-IN" sz="1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⃦ 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⃦   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B5DAA5-B1AF-C9E1-B4D0-A2A572D10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02" y="2118558"/>
                <a:ext cx="3633280" cy="337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9690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Metric</a:t>
            </a:r>
            <a:r>
              <a:rPr spc="150" dirty="0"/>
              <a:t> </a:t>
            </a:r>
            <a:r>
              <a:rPr spc="-10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534" y="902628"/>
            <a:ext cx="3943032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10" dirty="0">
                <a:latin typeface="Tahoma"/>
                <a:cs typeface="Tahoma"/>
              </a:rPr>
              <a:t> 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Cambria"/>
                <a:cs typeface="Cambria"/>
              </a:rPr>
              <a:t>⟨</a:t>
            </a:r>
            <a:r>
              <a:rPr sz="1100" i="1" spc="-20" dirty="0">
                <a:latin typeface="Bookman Old Style"/>
                <a:cs typeface="Bookman Old Style"/>
              </a:rPr>
              <a:t>.,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95" y="1282178"/>
            <a:ext cx="2575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 </a:t>
            </a:r>
            <a:r>
              <a:rPr sz="1100" spc="-25" dirty="0">
                <a:latin typeface="Tahoma"/>
                <a:cs typeface="Tahoma"/>
              </a:rPr>
              <a:t>be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976" y="1500720"/>
            <a:ext cx="34925" cy="139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804" y="1500720"/>
            <a:ext cx="34925" cy="139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0050" y="1452450"/>
            <a:ext cx="3648393" cy="15740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434"/>
              </a:spcBef>
              <a:tabLst>
                <a:tab pos="1631950" algn="l"/>
              </a:tabLst>
            </a:pP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45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95" dirty="0">
                <a:latin typeface="Tahoma"/>
                <a:cs typeface="Tahoma"/>
              </a:rPr>
              <a:t> 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6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endParaRPr sz="1100" dirty="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Euclidean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distance.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mapping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×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100" spc="20" dirty="0">
                <a:latin typeface="Century"/>
                <a:cs typeface="Century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metric.</a:t>
            </a:r>
            <a:endParaRPr lang="en-US" sz="1100" spc="-1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endParaRPr lang="en-US" sz="1100" spc="-1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tabLst>
                <a:tab pos="227965" algn="l"/>
              </a:tabLst>
            </a:pPr>
            <a:r>
              <a:rPr lang="en-US" sz="1100" spc="-10" dirty="0">
                <a:latin typeface="Tahoma"/>
                <a:cs typeface="Tahoma"/>
              </a:rPr>
              <a:t>P</a:t>
            </a:r>
            <a:r>
              <a:rPr lang="en-IN" sz="1100" spc="-10" dirty="0" err="1">
                <a:latin typeface="Tahoma"/>
                <a:cs typeface="Tahoma"/>
              </a:rPr>
              <a:t>roblem</a:t>
            </a:r>
            <a:r>
              <a:rPr lang="en-IN" sz="1100" spc="-10" dirty="0">
                <a:latin typeface="Tahoma"/>
                <a:cs typeface="Tahoma"/>
              </a:rPr>
              <a:t>: With respect the inner product &lt; &gt; defined using a matrix A in slide no 17, find the norm on R</a:t>
            </a:r>
            <a:r>
              <a:rPr lang="en-IN" sz="1100" spc="-10" baseline="30000" dirty="0">
                <a:latin typeface="Tahoma"/>
                <a:cs typeface="Tahoma"/>
              </a:rPr>
              <a:t>n</a:t>
            </a:r>
            <a:r>
              <a:rPr lang="en-IN" sz="1100" spc="-10" dirty="0">
                <a:latin typeface="Tahoma"/>
                <a:cs typeface="Tahoma"/>
              </a:rPr>
              <a:t> and also the distance between any two vectors in R</a:t>
            </a:r>
            <a:r>
              <a:rPr lang="en-IN" sz="1100" spc="-10" baseline="30000" dirty="0">
                <a:latin typeface="Tahoma"/>
                <a:cs typeface="Tahoma"/>
              </a:rPr>
              <a:t>n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</a:t>
            </a:r>
            <a:r>
              <a:rPr lang="en-US" dirty="0"/>
              <a:t>erties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a</a:t>
            </a:r>
            <a:r>
              <a:rPr spc="120" dirty="0"/>
              <a:t> </a:t>
            </a:r>
            <a:r>
              <a:rPr dirty="0"/>
              <a:t>metric</a:t>
            </a:r>
            <a:r>
              <a:rPr spc="120" dirty="0"/>
              <a:t> </a:t>
            </a:r>
            <a:r>
              <a:rPr spc="-10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494" y="684210"/>
            <a:ext cx="3989704" cy="21082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4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properties:</a:t>
            </a:r>
            <a:endParaRPr sz="1100">
              <a:latin typeface="Tahoma"/>
              <a:cs typeface="Tahoma"/>
            </a:endParaRPr>
          </a:p>
          <a:p>
            <a:pPr marL="34036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340360" algn="l"/>
              </a:tabLst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positive-</a:t>
            </a:r>
            <a:r>
              <a:rPr sz="1100" spc="-30" dirty="0">
                <a:latin typeface="Tahoma"/>
                <a:cs typeface="Tahoma"/>
              </a:rPr>
              <a:t>definite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45" dirty="0">
                <a:latin typeface="Tahoma"/>
                <a:cs typeface="Tahoma"/>
              </a:rPr>
              <a:t> </a:t>
            </a:r>
            <a:r>
              <a:rPr sz="1100" spc="-40" dirty="0">
                <a:latin typeface="Cambria"/>
                <a:cs typeface="Cambria"/>
              </a:rPr>
              <a:t>∀</a:t>
            </a:r>
            <a:r>
              <a:rPr sz="1050" spc="-4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35"/>
              </a:spcBef>
            </a:pP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45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2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365" dirty="0">
                <a:latin typeface="Cambria"/>
                <a:cs typeface="Cambri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spc="-25" dirty="0">
                <a:latin typeface="Arial"/>
                <a:cs typeface="Arial"/>
              </a:rPr>
              <a:t>y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40360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340360" algn="l"/>
              </a:tabLst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7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spc="55" dirty="0">
                <a:latin typeface="Arial"/>
                <a:cs typeface="Arial"/>
              </a:rPr>
              <a:t>x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spc="254" dirty="0">
                <a:latin typeface="Tahoma"/>
                <a:cs typeface="Tahoma"/>
              </a:rPr>
              <a:t> </a:t>
            </a:r>
            <a:r>
              <a:rPr sz="1100" spc="-40" dirty="0">
                <a:latin typeface="Cambria"/>
                <a:cs typeface="Cambria"/>
              </a:rPr>
              <a:t>∀</a:t>
            </a:r>
            <a:r>
              <a:rPr sz="1050" spc="-40" dirty="0">
                <a:latin typeface="Arial"/>
                <a:cs typeface="Arial"/>
              </a:rPr>
              <a:t>x</a:t>
            </a:r>
            <a:r>
              <a:rPr sz="1050" spc="-19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403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40360" algn="l"/>
              </a:tabLst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obeys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triangle</a:t>
            </a:r>
            <a:r>
              <a:rPr sz="1100" spc="-30" dirty="0">
                <a:latin typeface="Tahoma"/>
                <a:cs typeface="Tahoma"/>
              </a:rPr>
              <a:t> inequality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follows:</a:t>
            </a:r>
            <a:endParaRPr sz="1100">
              <a:latin typeface="Tahoma"/>
              <a:cs typeface="Tahoma"/>
            </a:endParaRPr>
          </a:p>
          <a:p>
            <a:pPr marL="340360">
              <a:lnSpc>
                <a:spcPct val="100000"/>
              </a:lnSpc>
              <a:spcBef>
                <a:spcPts val="35"/>
              </a:spcBef>
            </a:pP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spc="65" dirty="0">
                <a:latin typeface="Arial"/>
                <a:cs typeface="Arial"/>
              </a:rPr>
              <a:t>y</a:t>
            </a:r>
            <a:r>
              <a:rPr sz="1100" spc="65" dirty="0">
                <a:latin typeface="Tahoma"/>
                <a:cs typeface="Tahoma"/>
              </a:rPr>
              <a:t>)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325" dirty="0">
                <a:latin typeface="Tahoma"/>
                <a:cs typeface="Tahoma"/>
              </a:rPr>
              <a:t> </a:t>
            </a:r>
            <a:r>
              <a:rPr sz="1100" spc="-40" dirty="0">
                <a:latin typeface="Cambria"/>
                <a:cs typeface="Cambria"/>
              </a:rPr>
              <a:t>∀</a:t>
            </a:r>
            <a:r>
              <a:rPr sz="1050" spc="-4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-160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z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  <a:p>
            <a:pPr marL="63500" marR="30480">
              <a:lnSpc>
                <a:spcPct val="102600"/>
              </a:lnSpc>
              <a:spcBef>
                <a:spcPts val="300"/>
              </a:spcBef>
            </a:pPr>
            <a:r>
              <a:rPr sz="1100" spc="-70" dirty="0">
                <a:latin typeface="Tahoma"/>
                <a:cs typeface="Tahoma"/>
              </a:rPr>
              <a:t>Inner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products</a:t>
            </a:r>
            <a:r>
              <a:rPr sz="1100" spc="-45" dirty="0">
                <a:latin typeface="Tahoma"/>
                <a:cs typeface="Tahoma"/>
              </a:rPr>
              <a:t> and </a:t>
            </a:r>
            <a:r>
              <a:rPr sz="1100" spc="-30" dirty="0">
                <a:latin typeface="Tahoma"/>
                <a:cs typeface="Tahoma"/>
              </a:rPr>
              <a:t>metrics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 </a:t>
            </a:r>
            <a:r>
              <a:rPr sz="1100" spc="-55" dirty="0">
                <a:latin typeface="Tahoma"/>
                <a:cs typeface="Tahoma"/>
              </a:rPr>
              <a:t>very</a:t>
            </a:r>
            <a:r>
              <a:rPr sz="1100" spc="-30" dirty="0">
                <a:latin typeface="Tahoma"/>
                <a:cs typeface="Tahoma"/>
              </a:rPr>
              <a:t> similar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terms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 </a:t>
            </a:r>
            <a:r>
              <a:rPr sz="1100" spc="-45" dirty="0">
                <a:latin typeface="Tahoma"/>
                <a:cs typeface="Tahoma"/>
              </a:rPr>
              <a:t>properties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however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difference.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When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75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close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inner</a:t>
            </a:r>
            <a:r>
              <a:rPr sz="1100" spc="-30" dirty="0">
                <a:latin typeface="Tahoma"/>
                <a:cs typeface="Tahoma"/>
              </a:rPr>
              <a:t> product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large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distance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small.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 </a:t>
            </a:r>
            <a:r>
              <a:rPr sz="1100" spc="-45" dirty="0">
                <a:latin typeface="Tahoma"/>
                <a:cs typeface="Tahoma"/>
              </a:rPr>
              <a:t>hand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0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apart,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large.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33626"/>
            <a:ext cx="386397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5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addition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lengths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distance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vectors,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35" dirty="0">
                <a:latin typeface="Tahoma"/>
                <a:cs typeface="Tahoma"/>
              </a:rPr>
              <a:t> products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capture 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angle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ω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vectors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thus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geometry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space.</a:t>
            </a:r>
            <a:endParaRPr sz="1100">
              <a:latin typeface="Tahoma"/>
              <a:cs typeface="Tahoma"/>
            </a:endParaRPr>
          </a:p>
          <a:p>
            <a:pPr marL="214629" marR="14351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product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characterize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angle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Cauchy-</a:t>
            </a:r>
            <a:r>
              <a:rPr sz="1100" spc="-35" dirty="0">
                <a:latin typeface="Tahoma"/>
                <a:cs typeface="Tahoma"/>
              </a:rPr>
              <a:t>Schwarz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inequality.</a:t>
            </a:r>
            <a:endParaRPr sz="1100">
              <a:latin typeface="Tahoma"/>
              <a:cs typeface="Tahoma"/>
            </a:endParaRPr>
          </a:p>
          <a:p>
            <a:pPr marL="214629" marR="56769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Assume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2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0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vector.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Cauchy-</a:t>
            </a:r>
            <a:r>
              <a:rPr sz="1100" spc="-35" dirty="0">
                <a:latin typeface="Tahoma"/>
                <a:cs typeface="Tahoma"/>
              </a:rPr>
              <a:t>Schwarz</a:t>
            </a:r>
            <a:r>
              <a:rPr sz="1100" spc="-30" dirty="0">
                <a:latin typeface="Tahoma"/>
                <a:cs typeface="Tahoma"/>
              </a:rPr>
              <a:t> inequality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tells</a:t>
            </a:r>
            <a:r>
              <a:rPr sz="1100" spc="-30" dirty="0">
                <a:latin typeface="Tahoma"/>
                <a:cs typeface="Tahoma"/>
              </a:rPr>
              <a:t> us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4629" y="2407131"/>
            <a:ext cx="348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5" dirty="0">
                <a:latin typeface="Cambria"/>
                <a:cs typeface="Cambria"/>
              </a:rPr>
              <a:t>−</a:t>
            </a:r>
            <a:r>
              <a:rPr sz="1100" spc="85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180" dirty="0">
                <a:latin typeface="Cambria"/>
                <a:cs typeface="Cambria"/>
              </a:rPr>
              <a:t>≤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8100" y="2316730"/>
            <a:ext cx="32131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71407" y="2520886"/>
            <a:ext cx="450215" cy="167640"/>
            <a:chOff x="2271407" y="2520886"/>
            <a:chExt cx="450215" cy="167640"/>
          </a:xfrm>
        </p:grpSpPr>
        <p:sp>
          <p:nvSpPr>
            <p:cNvPr id="7" name="object 7"/>
            <p:cNvSpPr/>
            <p:nvPr/>
          </p:nvSpPr>
          <p:spPr>
            <a:xfrm>
              <a:off x="2274265" y="252374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>
                  <a:moveTo>
                    <a:pt x="0" y="0"/>
                  </a:moveTo>
                  <a:lnTo>
                    <a:pt x="444309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0140" y="2548648"/>
              <a:ext cx="34925" cy="139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0987" y="2548648"/>
              <a:ext cx="34925" cy="1397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1714" y="2548648"/>
              <a:ext cx="34925" cy="1397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330843" y="2505503"/>
            <a:ext cx="31559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3045" algn="l"/>
              </a:tabLst>
            </a:pP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5183" y="2548648"/>
            <a:ext cx="34925" cy="1397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759544" y="2407131"/>
            <a:ext cx="1501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11275" algn="l"/>
              </a:tabLst>
            </a:pP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(1)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748651"/>
            <a:ext cx="38392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177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01930" algn="l"/>
              </a:tabLst>
            </a:pPr>
            <a:r>
              <a:rPr sz="1100" spc="-20" dirty="0">
                <a:latin typeface="Tahoma"/>
                <a:cs typeface="Tahoma"/>
              </a:rPr>
              <a:t>Since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Cauchy-</a:t>
            </a:r>
            <a:r>
              <a:rPr sz="1100" spc="-35" dirty="0">
                <a:latin typeface="Tahoma"/>
                <a:cs typeface="Tahoma"/>
              </a:rPr>
              <a:t>Schwarz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ratio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lies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-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can </a:t>
            </a:r>
            <a:r>
              <a:rPr sz="1100" spc="-45" dirty="0">
                <a:latin typeface="Tahoma"/>
                <a:cs typeface="Tahoma"/>
              </a:rPr>
              <a:t>set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equal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cosine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unique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angle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114" dirty="0">
                <a:latin typeface="Bookman Old Style"/>
                <a:cs typeface="Bookman Old Style"/>
              </a:rPr>
              <a:t>ω</a:t>
            </a:r>
            <a:r>
              <a:rPr sz="1100" i="1" spc="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75" dirty="0">
                <a:latin typeface="Tahoma"/>
                <a:cs typeface="Tahoma"/>
              </a:rPr>
              <a:t>[0</a:t>
            </a:r>
            <a:r>
              <a:rPr sz="1100" i="1" spc="-7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50" dirty="0">
                <a:latin typeface="Bookman Old Style"/>
                <a:cs typeface="Bookman Old Style"/>
              </a:rPr>
              <a:t>π</a:t>
            </a:r>
            <a:r>
              <a:rPr sz="1100" spc="-50" dirty="0">
                <a:latin typeface="Tahoma"/>
                <a:cs typeface="Tahoma"/>
              </a:rPr>
              <a:t>]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086" y="1446326"/>
            <a:ext cx="34925" cy="1397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671660" y="1446326"/>
            <a:ext cx="104775" cy="139700"/>
            <a:chOff x="2671660" y="1446326"/>
            <a:chExt cx="104775" cy="139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0933" y="1446326"/>
              <a:ext cx="34925" cy="139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660" y="1446326"/>
              <a:ext cx="34925" cy="1397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560789" y="1403181"/>
            <a:ext cx="31559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3045" algn="l"/>
              </a:tabLst>
            </a:pP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130" y="1446326"/>
            <a:ext cx="34925" cy="139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08682" y="1211096"/>
            <a:ext cx="235267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4995">
              <a:lnSpc>
                <a:spcPts val="1030"/>
              </a:lnSpc>
              <a:spcBef>
                <a:spcPts val="90"/>
              </a:spcBef>
            </a:pPr>
            <a:r>
              <a:rPr sz="1100" u="sng" spc="1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⟨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050" u="sng" spc="-1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,</a:t>
            </a:r>
            <a:r>
              <a:rPr sz="1100" i="1" u="sng" spc="-14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05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100" u="sng" spc="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⟩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ts val="1030"/>
              </a:lnSpc>
              <a:tabLst>
                <a:tab pos="2162175" algn="l"/>
              </a:tabLst>
            </a:pPr>
            <a:r>
              <a:rPr sz="1100" spc="-40" dirty="0">
                <a:latin typeface="Tahoma"/>
                <a:cs typeface="Tahoma"/>
              </a:rPr>
              <a:t>cos(</a:t>
            </a:r>
            <a:r>
              <a:rPr sz="1100" i="1" spc="-40" dirty="0">
                <a:latin typeface="Bookman Old Style"/>
                <a:cs typeface="Bookman Old Style"/>
              </a:rPr>
              <a:t>ω</a:t>
            </a:r>
            <a:r>
              <a:rPr sz="1100" spc="-40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(2)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957" y="1682532"/>
            <a:ext cx="3827779" cy="10902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11125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 </a:t>
            </a:r>
            <a:r>
              <a:rPr sz="1100" i="1" dirty="0">
                <a:latin typeface="Bookman Old Style"/>
                <a:cs typeface="Bookman Old Style"/>
              </a:rPr>
              <a:t>ω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angle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 </a:t>
            </a:r>
            <a:r>
              <a:rPr sz="1100" spc="-10" dirty="0">
                <a:latin typeface="Tahoma"/>
                <a:cs typeface="Tahoma"/>
              </a:rPr>
              <a:t>capture?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notion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captures </a:t>
            </a:r>
            <a:r>
              <a:rPr sz="1100" spc="-25" dirty="0">
                <a:latin typeface="Tahoma"/>
                <a:cs typeface="Tahoma"/>
              </a:rPr>
              <a:t>similarity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orientation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between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vectors.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close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zero,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pointing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directions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i="1" spc="-114" dirty="0">
                <a:latin typeface="Bookman Old Style"/>
                <a:cs typeface="Bookman Old Style"/>
              </a:rPr>
              <a:t>ω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spc="229" dirty="0">
                <a:latin typeface="Cambria"/>
                <a:cs typeface="Cambria"/>
              </a:rPr>
              <a:t>≈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π/</a:t>
            </a:r>
            <a:r>
              <a:rPr sz="1100" spc="-20" dirty="0">
                <a:latin typeface="Tahoma"/>
                <a:cs typeface="Tahoma"/>
              </a:rPr>
              <a:t>2.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86397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Food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30" dirty="0">
                <a:latin typeface="Tahoma"/>
                <a:cs typeface="Tahoma"/>
              </a:rPr>
              <a:t>thought: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Suppose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spc="-50" dirty="0">
                <a:latin typeface="Arial"/>
                <a:cs typeface="Arial"/>
              </a:rPr>
              <a:t>y </a:t>
            </a:r>
            <a:r>
              <a:rPr sz="1100" spc="-35" dirty="0">
                <a:latin typeface="Tahoma"/>
                <a:cs typeface="Tahoma"/>
              </a:rPr>
              <a:t>uniformly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random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high </a:t>
            </a:r>
            <a:r>
              <a:rPr sz="1100" spc="-40" dirty="0">
                <a:latin typeface="Tahoma"/>
                <a:cs typeface="Tahoma"/>
              </a:rPr>
              <a:t>dimensions.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happens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hence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between </a:t>
            </a:r>
            <a:r>
              <a:rPr sz="1100" spc="-10" dirty="0">
                <a:latin typeface="Tahoma"/>
                <a:cs typeface="Tahoma"/>
              </a:rPr>
              <a:t>them?</a:t>
            </a:r>
            <a:endParaRPr sz="1100">
              <a:latin typeface="Tahoma"/>
              <a:cs typeface="Tahoma"/>
            </a:endParaRPr>
          </a:p>
          <a:p>
            <a:pPr marL="214629" marR="2108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uniformly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random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over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let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component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Gaussian </a:t>
            </a:r>
            <a:r>
              <a:rPr sz="1100" spc="-40" dirty="0">
                <a:latin typeface="Tahoma"/>
                <a:cs typeface="Tahoma"/>
              </a:rPr>
              <a:t>random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variance.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Write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program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happens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...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819593"/>
            <a:ext cx="3860800" cy="1854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24193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feature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to </a:t>
            </a:r>
            <a:r>
              <a:rPr sz="1100" spc="-40" dirty="0">
                <a:latin typeface="Tahoma"/>
                <a:cs typeface="Tahoma"/>
              </a:rPr>
              <a:t>characterize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orthogonal.</a:t>
            </a:r>
            <a:endParaRPr sz="1100">
              <a:latin typeface="Tahoma"/>
              <a:cs typeface="Tahoma"/>
            </a:endParaRPr>
          </a:p>
          <a:p>
            <a:pPr marL="240029" marR="6350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4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the inner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8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05" dirty="0">
                <a:latin typeface="Arial"/>
                <a:cs typeface="Arial"/>
              </a:rPr>
              <a:t> </a:t>
            </a:r>
            <a:r>
              <a:rPr sz="1100" spc="114" dirty="0">
                <a:latin typeface="Cambria"/>
                <a:cs typeface="Cambria"/>
              </a:rPr>
              <a:t>⊥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050" spc="-25" dirty="0">
                <a:latin typeface="Arial"/>
                <a:cs typeface="Arial"/>
              </a:rPr>
              <a:t>y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40029" marR="37655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By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20" dirty="0">
                <a:latin typeface="Tahoma"/>
                <a:cs typeface="Tahoma"/>
              </a:rPr>
              <a:t> 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0</a:t>
            </a:r>
            <a:r>
              <a:rPr sz="1100" spc="-35" dirty="0">
                <a:latin typeface="Tahoma"/>
                <a:cs typeface="Tahoma"/>
              </a:rPr>
              <a:t>-vector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all </a:t>
            </a:r>
            <a:r>
              <a:rPr sz="1100" spc="-1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  <a:p>
            <a:pPr marL="2400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30" dirty="0">
                <a:latin typeface="Tahoma"/>
                <a:cs typeface="Tahoma"/>
              </a:rPr>
              <a:t>Vectors </a:t>
            </a:r>
            <a:r>
              <a:rPr sz="1100" spc="-25" dirty="0">
                <a:latin typeface="Tahoma"/>
                <a:cs typeface="Tahoma"/>
              </a:rPr>
              <a:t>which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inner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inner </a:t>
            </a:r>
            <a:r>
              <a:rPr sz="1100" spc="-10" dirty="0">
                <a:latin typeface="Tahoma"/>
                <a:cs typeface="Tahoma"/>
              </a:rPr>
              <a:t>product.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40" dirty="0"/>
              <a:t> </a:t>
            </a:r>
            <a:r>
              <a:rPr dirty="0"/>
              <a:t>-</a:t>
            </a:r>
            <a:r>
              <a:rPr spc="145" dirty="0"/>
              <a:t> </a:t>
            </a:r>
            <a:r>
              <a:rPr dirty="0"/>
              <a:t>angles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spc="-10" dirty="0"/>
              <a:t>orthogonality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257" y="840572"/>
            <a:ext cx="387667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79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[1</a:t>
            </a:r>
            <a:r>
              <a:rPr sz="1100" i="1" spc="-75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1]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412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1100" dirty="0">
                <a:latin typeface="Cambria"/>
                <a:cs typeface="Cambria"/>
              </a:rPr>
              <a:t>−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ahoma"/>
                <a:cs typeface="Tahoma"/>
              </a:rPr>
              <a:t>1]</a:t>
            </a:r>
            <a:r>
              <a:rPr sz="1200" i="1" spc="-37" baseline="27777" dirty="0">
                <a:latin typeface="Arial"/>
                <a:cs typeface="Arial"/>
              </a:rPr>
              <a:t>T</a:t>
            </a:r>
            <a:endParaRPr sz="1200" baseline="27777">
              <a:latin typeface="Arial"/>
              <a:cs typeface="Arial"/>
            </a:endParaRPr>
          </a:p>
          <a:p>
            <a:pPr marL="227329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inner</a:t>
            </a:r>
            <a:r>
              <a:rPr sz="1100" spc="-30" dirty="0">
                <a:latin typeface="Tahoma"/>
                <a:cs typeface="Tahoma"/>
              </a:rPr>
              <a:t> product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dot</a:t>
            </a:r>
            <a:r>
              <a:rPr sz="1100" spc="-30" dirty="0">
                <a:latin typeface="Tahoma"/>
                <a:cs typeface="Tahoma"/>
              </a:rPr>
              <a:t> product </a:t>
            </a:r>
            <a:r>
              <a:rPr sz="1100" spc="-25" dirty="0">
                <a:latin typeface="Tahoma"/>
                <a:cs typeface="Tahoma"/>
              </a:rPr>
              <a:t>we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995" y="1266455"/>
            <a:ext cx="265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,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050" spc="75" dirty="0">
                <a:latin typeface="Arial"/>
                <a:cs typeface="Arial"/>
              </a:rPr>
              <a:t>y</a:t>
            </a:r>
            <a:r>
              <a:rPr sz="1100" spc="75" dirty="0">
                <a:latin typeface="Cambria"/>
                <a:cs typeface="Cambria"/>
              </a:rPr>
              <a:t>⟩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∗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spc="85" dirty="0">
                <a:latin typeface="Cambria"/>
                <a:cs typeface="Cambria"/>
              </a:rPr>
              <a:t>−</a:t>
            </a:r>
            <a:r>
              <a:rPr sz="1100" spc="85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∗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357" y="15425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558415"/>
            <a:ext cx="20986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0599" y="154546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0032" y="1472157"/>
            <a:ext cx="290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2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0032" y="1644229"/>
            <a:ext cx="290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6918" y="1363064"/>
            <a:ext cx="4368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5052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1321" y="1558415"/>
            <a:ext cx="772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Arial"/>
                <a:cs typeface="Arial"/>
              </a:rPr>
              <a:t>y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395" y="1804719"/>
            <a:ext cx="24796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60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becomes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0646" y="2181058"/>
            <a:ext cx="642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cos(</a:t>
            </a:r>
            <a:r>
              <a:rPr sz="1100" i="1" dirty="0">
                <a:latin typeface="Bookman Old Style"/>
                <a:cs typeface="Bookman Old Style"/>
              </a:rPr>
              <a:t>ω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4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79560" y="2087332"/>
            <a:ext cx="469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1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⟨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050" u="sng" spc="-1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,</a:t>
            </a:r>
            <a:r>
              <a:rPr sz="1100" i="1" u="sng" spc="-14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05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</a:t>
            </a:r>
            <a:r>
              <a:rPr sz="1100" u="sng" spc="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⟩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8135" y="2322563"/>
            <a:ext cx="34925" cy="13970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759697" y="2322563"/>
            <a:ext cx="104775" cy="139700"/>
            <a:chOff x="2759697" y="2322563"/>
            <a:chExt cx="104775" cy="13970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8970" y="2322563"/>
              <a:ext cx="34925" cy="1397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9697" y="2322563"/>
              <a:ext cx="34925" cy="1397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648826" y="2279417"/>
            <a:ext cx="31559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3045" algn="l"/>
              </a:tabLst>
            </a:pP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3179" y="2322563"/>
            <a:ext cx="34925" cy="139700"/>
          </a:xfrm>
          <a:prstGeom prst="rect">
            <a:avLst/>
          </a:prstGeom>
        </p:spPr>
      </p:pic>
      <p:sp>
        <p:nvSpPr>
          <p:cNvPr id="21" name="Left Bracket 20">
            <a:extLst>
              <a:ext uri="{FF2B5EF4-FFF2-40B4-BE49-F238E27FC236}">
                <a16:creationId xmlns:a16="http://schemas.microsoft.com/office/drawing/2014/main" id="{387E9681-8199-7D54-CC54-04BF3516520B}"/>
              </a:ext>
            </a:extLst>
          </p:cNvPr>
          <p:cNvSpPr/>
          <p:nvPr/>
        </p:nvSpPr>
        <p:spPr>
          <a:xfrm>
            <a:off x="2854313" y="1458225"/>
            <a:ext cx="45719" cy="338599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Bracket 21">
            <a:extLst>
              <a:ext uri="{FF2B5EF4-FFF2-40B4-BE49-F238E27FC236}">
                <a16:creationId xmlns:a16="http://schemas.microsoft.com/office/drawing/2014/main" id="{7CD87951-70A8-1354-DCF9-9CEF9A57068A}"/>
              </a:ext>
            </a:extLst>
          </p:cNvPr>
          <p:cNvSpPr/>
          <p:nvPr/>
        </p:nvSpPr>
        <p:spPr>
          <a:xfrm>
            <a:off x="3104070" y="1472157"/>
            <a:ext cx="131243" cy="363842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74954D-A96D-0663-53D4-8313A5290590}"/>
              </a:ext>
            </a:extLst>
          </p:cNvPr>
          <p:cNvSpPr txBox="1"/>
          <p:nvPr/>
        </p:nvSpPr>
        <p:spPr>
          <a:xfrm>
            <a:off x="2320107" y="2529493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= -1/3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A218A3-3EC0-B365-505B-07336E39A586}"/>
              </a:ext>
            </a:extLst>
          </p:cNvPr>
          <p:cNvSpPr txBox="1"/>
          <p:nvPr/>
        </p:nvSpPr>
        <p:spPr>
          <a:xfrm>
            <a:off x="447357" y="2652603"/>
            <a:ext cx="3991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Hence with respect to this inner product the vectors are no longer orthogonal. 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</a:t>
            </a:r>
            <a:r>
              <a:rPr lang="en-IN" dirty="0"/>
              <a:t>hogonal</a:t>
            </a:r>
            <a:r>
              <a:rPr spc="80" dirty="0"/>
              <a:t> </a:t>
            </a:r>
            <a:r>
              <a:rPr spc="-1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857" y="807452"/>
            <a:ext cx="3930015" cy="18846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2729" marR="685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52729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10" dirty="0">
                <a:latin typeface="Tahoma"/>
                <a:cs typeface="Tahoma"/>
              </a:rPr>
              <a:t> matrix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47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only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orthonormal:</a:t>
            </a:r>
            <a:endParaRPr sz="1100">
              <a:latin typeface="Tahoma"/>
              <a:cs typeface="Tahoma"/>
            </a:endParaRPr>
          </a:p>
          <a:p>
            <a:pPr marR="1496695" algn="r">
              <a:lnSpc>
                <a:spcPts val="1260"/>
              </a:lnSpc>
              <a:spcBef>
                <a:spcPts val="1130"/>
              </a:spcBef>
            </a:pPr>
            <a:r>
              <a:rPr sz="1050" spc="85" dirty="0">
                <a:latin typeface="Arial"/>
                <a:cs typeface="Arial"/>
              </a:rPr>
              <a:t>A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65" dirty="0">
                <a:latin typeface="Arial"/>
                <a:cs typeface="Arial"/>
              </a:rPr>
              <a:t>I</a:t>
            </a:r>
            <a:r>
              <a:rPr sz="1050" spc="1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spc="60" dirty="0">
                <a:latin typeface="Arial"/>
                <a:cs typeface="Arial"/>
              </a:rPr>
              <a:t>AA</a:t>
            </a:r>
            <a:r>
              <a:rPr sz="1200" i="1" spc="89" baseline="31250" dirty="0">
                <a:latin typeface="Arial"/>
                <a:cs typeface="Arial"/>
              </a:rPr>
              <a:t>T</a:t>
            </a:r>
            <a:endParaRPr sz="1200" baseline="31250">
              <a:latin typeface="Arial"/>
              <a:cs typeface="Arial"/>
            </a:endParaRPr>
          </a:p>
          <a:p>
            <a:pPr marR="1483360" algn="r">
              <a:lnSpc>
                <a:spcPts val="1260"/>
              </a:lnSpc>
            </a:pPr>
            <a:r>
              <a:rPr sz="1575" spc="127" baseline="-23809" dirty="0">
                <a:latin typeface="Arial"/>
                <a:cs typeface="Arial"/>
              </a:rPr>
              <a:t>A</a:t>
            </a:r>
            <a:r>
              <a:rPr sz="800" i="1" spc="85" dirty="0">
                <a:latin typeface="Arial"/>
                <a:cs typeface="Arial"/>
              </a:rPr>
              <a:t>T</a:t>
            </a:r>
            <a:r>
              <a:rPr sz="800" i="1" spc="260" dirty="0">
                <a:latin typeface="Arial"/>
                <a:cs typeface="Arial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-37" baseline="-22727" dirty="0">
                <a:latin typeface="Tahoma"/>
                <a:cs typeface="Tahoma"/>
              </a:rPr>
              <a:t> </a:t>
            </a:r>
            <a:r>
              <a:rPr sz="1575" spc="-37" baseline="-23809" dirty="0">
                <a:latin typeface="Arial"/>
                <a:cs typeface="Arial"/>
              </a:rPr>
              <a:t>A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00">
              <a:latin typeface="Tahoma"/>
              <a:cs typeface="Tahoma"/>
            </a:endParaRPr>
          </a:p>
          <a:p>
            <a:pPr marL="252729" marR="172085" indent="-177165">
              <a:lnSpc>
                <a:spcPct val="102600"/>
              </a:lnSpc>
              <a:buClr>
                <a:srgbClr val="3333B2"/>
              </a:buClr>
              <a:buFont typeface="Lucida Sans Unicode"/>
              <a:buChar char="►"/>
              <a:tabLst>
                <a:tab pos="2527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rows </a:t>
            </a:r>
            <a:r>
              <a:rPr sz="1100" spc="-40" dirty="0">
                <a:latin typeface="Tahoma"/>
                <a:cs typeface="Tahoma"/>
              </a:rPr>
              <a:t>orthonormal </a:t>
            </a:r>
            <a:r>
              <a:rPr sz="1100" dirty="0">
                <a:latin typeface="Tahoma"/>
                <a:cs typeface="Tahoma"/>
              </a:rPr>
              <a:t>too?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fact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>
              <a:latin typeface="Tahoma"/>
              <a:cs typeface="Tahoma"/>
            </a:endParaRPr>
          </a:p>
          <a:p>
            <a:pPr marL="252729" marR="57785">
              <a:lnSpc>
                <a:spcPct val="102600"/>
              </a:lnSpc>
              <a:spcBef>
                <a:spcPts val="5"/>
              </a:spcBef>
            </a:pPr>
            <a:r>
              <a:rPr sz="1100" spc="-40" dirty="0">
                <a:latin typeface="Tahoma"/>
                <a:cs typeface="Tahoma"/>
              </a:rPr>
              <a:t>left-</a:t>
            </a:r>
            <a:r>
              <a:rPr sz="1100" spc="-35" dirty="0">
                <a:latin typeface="Tahoma"/>
                <a:cs typeface="Tahoma"/>
              </a:rPr>
              <a:t>inverse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20" dirty="0">
                <a:latin typeface="Tahoma"/>
                <a:cs typeface="Tahoma"/>
              </a:rPr>
              <a:t> 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right-</a:t>
            </a:r>
            <a:r>
              <a:rPr sz="1100" spc="-50" dirty="0">
                <a:latin typeface="Tahoma"/>
                <a:cs typeface="Tahoma"/>
              </a:rPr>
              <a:t>inverse.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B</a:t>
            </a:r>
            <a:r>
              <a:rPr sz="1050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C</a:t>
            </a:r>
            <a:r>
              <a:rPr sz="1050" spc="13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left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right </a:t>
            </a:r>
            <a:r>
              <a:rPr sz="1100" spc="-55" dirty="0">
                <a:latin typeface="Tahoma"/>
                <a:cs typeface="Tahoma"/>
              </a:rPr>
              <a:t>inverses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050" spc="90" dirty="0">
                <a:latin typeface="Arial"/>
                <a:cs typeface="Arial"/>
              </a:rPr>
              <a:t>BA</a:t>
            </a:r>
            <a:r>
              <a:rPr sz="1050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AC</a:t>
            </a:r>
            <a:r>
              <a:rPr sz="1050" spc="4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345" dirty="0">
                <a:latin typeface="Cambria"/>
                <a:cs typeface="Cambria"/>
              </a:rPr>
              <a:t> </a:t>
            </a:r>
            <a:r>
              <a:rPr sz="1050" spc="90" dirty="0">
                <a:latin typeface="Arial"/>
                <a:cs typeface="Arial"/>
              </a:rPr>
              <a:t>B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C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Why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true?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</a:t>
            </a:r>
            <a:r>
              <a:rPr lang="en-IN" dirty="0"/>
              <a:t>gonal </a:t>
            </a:r>
            <a:r>
              <a:rPr spc="-10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970" y="1559763"/>
            <a:ext cx="34925" cy="13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094" y="1559763"/>
            <a:ext cx="34925" cy="139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09257" y="997075"/>
                <a:ext cx="3736975" cy="1037913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227329" marR="43180" indent="-177165">
                  <a:lnSpc>
                    <a:spcPct val="102600"/>
                  </a:lnSpc>
                  <a:spcBef>
                    <a:spcPts val="55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27329" algn="l"/>
                  </a:tabLst>
                </a:pPr>
                <a:r>
                  <a:rPr sz="1100" spc="-40" dirty="0">
                    <a:latin typeface="Tahoma"/>
                    <a:cs typeface="Tahoma"/>
                  </a:rPr>
                  <a:t>Transformations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by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an</a:t>
                </a:r>
                <a:r>
                  <a:rPr sz="1100" spc="-35" dirty="0">
                    <a:latin typeface="Tahoma"/>
                    <a:cs typeface="Tahoma"/>
                  </a:rPr>
                  <a:t> </a:t>
                </a:r>
                <a:r>
                  <a:rPr sz="1100" spc="-40" dirty="0">
                    <a:latin typeface="Tahoma"/>
                    <a:cs typeface="Tahoma"/>
                  </a:rPr>
                  <a:t>orthonormal </a:t>
                </a:r>
                <a:r>
                  <a:rPr sz="1100" spc="-10" dirty="0">
                    <a:latin typeface="Tahoma"/>
                    <a:cs typeface="Tahoma"/>
                  </a:rPr>
                  <a:t>matrix</a:t>
                </a:r>
                <a:r>
                  <a:rPr sz="1100" spc="-35" dirty="0">
                    <a:latin typeface="Tahoma"/>
                    <a:cs typeface="Tahoma"/>
                  </a:rPr>
                  <a:t> </a:t>
                </a:r>
                <a:r>
                  <a:rPr sz="1100" spc="-65" dirty="0">
                    <a:latin typeface="Tahoma"/>
                    <a:cs typeface="Tahoma"/>
                  </a:rPr>
                  <a:t>preserve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lengths. </a:t>
                </a:r>
                <a:r>
                  <a:rPr sz="1100" dirty="0">
                    <a:latin typeface="Tahoma"/>
                    <a:cs typeface="Tahoma"/>
                  </a:rPr>
                  <a:t>This</a:t>
                </a:r>
                <a:r>
                  <a:rPr sz="1100" spc="-80" dirty="0">
                    <a:latin typeface="Tahoma"/>
                    <a:cs typeface="Tahoma"/>
                  </a:rPr>
                  <a:t> </a:t>
                </a:r>
                <a:r>
                  <a:rPr sz="1100" spc="-20" dirty="0">
                    <a:latin typeface="Tahoma"/>
                    <a:cs typeface="Tahoma"/>
                  </a:rPr>
                  <a:t>can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be</a:t>
                </a:r>
                <a:r>
                  <a:rPr sz="1100" spc="-40" dirty="0">
                    <a:latin typeface="Tahoma"/>
                    <a:cs typeface="Tahoma"/>
                  </a:rPr>
                  <a:t> </a:t>
                </a:r>
                <a:r>
                  <a:rPr sz="1100" spc="-70" dirty="0">
                    <a:latin typeface="Tahoma"/>
                    <a:cs typeface="Tahoma"/>
                  </a:rPr>
                  <a:t>seen</a:t>
                </a:r>
                <a:r>
                  <a:rPr sz="1100" spc="-20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as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follows,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using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dot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product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20" dirty="0">
                    <a:latin typeface="Tahoma"/>
                    <a:cs typeface="Tahoma"/>
                  </a:rPr>
                  <a:t>as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25" dirty="0">
                    <a:latin typeface="Tahoma"/>
                    <a:cs typeface="Tahoma"/>
                  </a:rPr>
                  <a:t>the definition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of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inner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product:</a:t>
                </a:r>
                <a:endParaRPr sz="1100" dirty="0">
                  <a:latin typeface="Tahoma"/>
                  <a:cs typeface="Tahoma"/>
                </a:endParaRPr>
              </a:p>
              <a:p>
                <a:pPr marL="296545">
                  <a:lnSpc>
                    <a:spcPct val="100000"/>
                  </a:lnSpc>
                  <a:spcBef>
                    <a:spcPts val="35"/>
                  </a:spcBef>
                </a:pPr>
                <a:r>
                  <a:rPr sz="1050" spc="55" dirty="0">
                    <a:latin typeface="Arial"/>
                    <a:cs typeface="Arial"/>
                  </a:rPr>
                  <a:t>Ax</a:t>
                </a:r>
                <a:r>
                  <a:rPr sz="1050" spc="380" dirty="0">
                    <a:latin typeface="Arial"/>
                    <a:cs typeface="Arial"/>
                  </a:rPr>
                  <a:t> </a:t>
                </a:r>
                <a:r>
                  <a:rPr sz="1200" spc="15" baseline="27777" dirty="0">
                    <a:latin typeface="Tahoma"/>
                    <a:cs typeface="Tahoma"/>
                  </a:rPr>
                  <a:t>2</a:t>
                </a:r>
                <a:r>
                  <a:rPr sz="1200" spc="179" baseline="27777" dirty="0">
                    <a:latin typeface="Tahoma"/>
                    <a:cs typeface="Tahoma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(</a:t>
                </a:r>
                <a:r>
                  <a:rPr sz="1050" spc="10" dirty="0">
                    <a:latin typeface="Arial"/>
                    <a:cs typeface="Arial"/>
                  </a:rPr>
                  <a:t>Ax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)</a:t>
                </a:r>
                <a:r>
                  <a:rPr sz="1200" i="1" spc="15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55" dirty="0">
                    <a:latin typeface="Arial"/>
                    <a:cs typeface="Arial"/>
                  </a:rPr>
                  <a:t>Ax</a:t>
                </a:r>
                <a:r>
                  <a:rPr sz="1050" spc="135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85" dirty="0">
                    <a:latin typeface="Arial"/>
                    <a:cs typeface="Arial"/>
                  </a:rPr>
                  <a:t>A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55" dirty="0">
                    <a:latin typeface="Arial"/>
                    <a:cs typeface="Arial"/>
                  </a:rPr>
                  <a:t>Ax</a:t>
                </a:r>
                <a:r>
                  <a:rPr sz="1050" spc="130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0" dirty="0">
                    <a:latin typeface="Tahoma"/>
                    <a:cs typeface="Tahoma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100" i="1" dirty="0">
                    <a:latin typeface="Arial"/>
                    <a:cs typeface="Arial"/>
                  </a:rPr>
                  <a:t>I</a:t>
                </a:r>
                <a:r>
                  <a:rPr sz="1100" i="1" spc="-155" dirty="0">
                    <a:latin typeface="Arial"/>
                    <a:cs typeface="Arial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135" dirty="0">
                    <a:latin typeface="Arial"/>
                    <a:cs typeface="Arial"/>
                  </a:rPr>
                  <a:t> </a:t>
                </a:r>
                <a:r>
                  <a:rPr sz="1100" spc="10" dirty="0">
                    <a:latin typeface="Tahoma"/>
                    <a:cs typeface="Tahoma"/>
                  </a:rPr>
                  <a:t>=</a:t>
                </a:r>
                <a:r>
                  <a:rPr sz="1100" spc="-25" dirty="0">
                    <a:latin typeface="Tahoma"/>
                    <a:cs typeface="Tahoma"/>
                  </a:rPr>
                  <a:t> </a:t>
                </a:r>
                <a:r>
                  <a:rPr sz="1050" spc="10" dirty="0">
                    <a:latin typeface="Arial"/>
                    <a:cs typeface="Arial"/>
                  </a:rPr>
                  <a:t>x</a:t>
                </a:r>
                <a:r>
                  <a:rPr sz="1050" spc="-185" dirty="0">
                    <a:latin typeface="Arial"/>
                    <a:cs typeface="Arial"/>
                  </a:rPr>
                  <a:t> </a:t>
                </a:r>
                <a:r>
                  <a:rPr sz="1200" i="1" spc="127" baseline="27777" dirty="0">
                    <a:latin typeface="Arial"/>
                    <a:cs typeface="Arial"/>
                  </a:rPr>
                  <a:t>T</a:t>
                </a:r>
                <a:r>
                  <a:rPr sz="1200" i="1" spc="-89" baseline="27777" dirty="0">
                    <a:latin typeface="Arial"/>
                    <a:cs typeface="Arial"/>
                  </a:rPr>
                  <a:t> </a:t>
                </a:r>
                <a:r>
                  <a:rPr sz="1050" spc="-25" dirty="0">
                    <a:latin typeface="Arial"/>
                    <a:cs typeface="Arial"/>
                  </a:rPr>
                  <a:t>x</a:t>
                </a:r>
                <a:r>
                  <a:rPr lang="en-IN" sz="1100" spc="-25" dirty="0">
                    <a:latin typeface="Tahoma"/>
                    <a:cs typeface="Tahoma"/>
                  </a:rPr>
                  <a:t> = </a:t>
                </a:r>
                <a:r>
                  <a:rPr lang="en-IN" sz="1100" spc="-25" dirty="0">
                    <a:latin typeface="Tahoma"/>
                    <a:ea typeface="Cambria Math" panose="02040503050406030204" pitchFamily="18" charset="0"/>
                    <a:cs typeface="Tahoma"/>
                  </a:rPr>
                  <a:t>⃦ x </a:t>
                </a:r>
                <a:r>
                  <a:rPr lang="en-IN" sz="1100" spc="-25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/>
                  </a:rPr>
                  <a:t>  </a:t>
                </a:r>
                <a14:m>
                  <m:oMath xmlns:m="http://schemas.openxmlformats.org/officeDocument/2006/math">
                    <m:r>
                      <a:rPr lang="en-IN" sz="1100" i="1" spc="-2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/>
                      </a:rPr>
                      <m:t>⃦</m:t>
                    </m:r>
                  </m:oMath>
                </a14:m>
                <a:r>
                  <a:rPr lang="en-IN" sz="1100" spc="-25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/>
                  </a:rPr>
                  <a:t>2</a:t>
                </a:r>
                <a:r>
                  <a:rPr lang="en-IN" sz="1100" spc="-25" dirty="0">
                    <a:latin typeface="Cambria Math" panose="02040503050406030204" pitchFamily="18" charset="0"/>
                    <a:ea typeface="Cambria Math" panose="02040503050406030204" pitchFamily="18" charset="0"/>
                    <a:cs typeface="Tahoma"/>
                  </a:rPr>
                  <a:t>   </a:t>
                </a:r>
              </a:p>
              <a:p>
                <a:pPr marL="296545">
                  <a:lnSpc>
                    <a:spcPct val="100000"/>
                  </a:lnSpc>
                  <a:spcBef>
                    <a:spcPts val="35"/>
                  </a:spcBef>
                </a:pPr>
                <a:endParaRPr lang="en-IN" sz="1100" spc="-25" dirty="0">
                  <a:latin typeface="Cambria Math" panose="02040503050406030204" pitchFamily="18" charset="0"/>
                  <a:ea typeface="Cambria Math" panose="02040503050406030204" pitchFamily="18" charset="0"/>
                  <a:cs typeface="Tahoma"/>
                </a:endParaRPr>
              </a:p>
              <a:p>
                <a:pPr marL="296545">
                  <a:lnSpc>
                    <a:spcPct val="100000"/>
                  </a:lnSpc>
                  <a:spcBef>
                    <a:spcPts val="35"/>
                  </a:spcBef>
                </a:pP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57" y="997075"/>
                <a:ext cx="3736975" cy="1037913"/>
              </a:xfrm>
              <a:prstGeom prst="rect">
                <a:avLst/>
              </a:prstGeom>
              <a:blipFill>
                <a:blip r:embed="rId3"/>
                <a:stretch>
                  <a:fillRect l="-1631" t="-7647" r="-1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434657" y="1723325"/>
            <a:ext cx="34905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2D-</a:t>
            </a:r>
            <a:r>
              <a:rPr sz="1100" spc="-10" dirty="0">
                <a:latin typeface="Tahoma"/>
                <a:cs typeface="Tahoma"/>
              </a:rPr>
              <a:t>rotation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6029" y="1883370"/>
            <a:ext cx="761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4655" algn="l"/>
              </a:tabLst>
            </a:pPr>
            <a:r>
              <a:rPr sz="1100" spc="-60" dirty="0">
                <a:latin typeface="Tahoma"/>
                <a:cs typeface="Tahoma"/>
              </a:rPr>
              <a:t>cos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Bookman Old Style"/>
                <a:cs typeface="Bookman Old Style"/>
              </a:rPr>
              <a:t>θ</a:t>
            </a:r>
            <a:r>
              <a:rPr sz="1100" i="1" dirty="0">
                <a:latin typeface="Bookman Old Style"/>
                <a:cs typeface="Bookman Old Style"/>
              </a:rPr>
              <a:t>	</a:t>
            </a:r>
            <a:r>
              <a:rPr sz="1100" spc="-10" dirty="0">
                <a:latin typeface="Cambria"/>
                <a:cs typeface="Cambria"/>
              </a:rPr>
              <a:t>−</a:t>
            </a:r>
            <a:r>
              <a:rPr sz="1100" i="1" spc="-10" dirty="0">
                <a:latin typeface="Arial"/>
                <a:cs typeface="Arial"/>
              </a:rPr>
              <a:t>sin</a:t>
            </a:r>
            <a:r>
              <a:rPr sz="1100" i="1" spc="-10" dirty="0">
                <a:latin typeface="Bookman Old Style"/>
                <a:cs typeface="Bookman Old Style"/>
              </a:rPr>
              <a:t>θ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9423" y="2055442"/>
            <a:ext cx="701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27990" algn="l"/>
              </a:tabLst>
            </a:pPr>
            <a:r>
              <a:rPr sz="1100" i="1" spc="-20" dirty="0">
                <a:latin typeface="Arial"/>
                <a:cs typeface="Arial"/>
              </a:rPr>
              <a:t>sin</a:t>
            </a:r>
            <a:r>
              <a:rPr sz="1100" i="1" spc="-20" dirty="0">
                <a:latin typeface="Bookman Old Style"/>
                <a:cs typeface="Bookman Old Style"/>
              </a:rPr>
              <a:t>θ</a:t>
            </a:r>
            <a:r>
              <a:rPr sz="1100" i="1" dirty="0">
                <a:latin typeface="Bookman Old Style"/>
                <a:cs typeface="Bookman Old Style"/>
              </a:rPr>
              <a:t>	</a:t>
            </a:r>
            <a:r>
              <a:rPr sz="1100" i="1" spc="-75" dirty="0">
                <a:latin typeface="Arial"/>
                <a:cs typeface="Arial"/>
              </a:rPr>
              <a:t>cos</a:t>
            </a:r>
            <a:r>
              <a:rPr sz="1100" i="1" spc="-75" dirty="0">
                <a:latin typeface="Bookman Old Style"/>
                <a:cs typeface="Bookman Old Style"/>
              </a:rPr>
              <a:t>θ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2903" y="1774277"/>
            <a:ext cx="91122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82486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4689" y="1969629"/>
            <a:ext cx="609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150" dirty="0">
                <a:latin typeface="Bookman Old Style"/>
                <a:cs typeface="Bookman Old Style"/>
              </a:rPr>
              <a:t>θ</a:t>
            </a:r>
            <a:r>
              <a:rPr sz="1100" i="1" spc="6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395" y="1889580"/>
            <a:ext cx="1958339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rotation.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FDE1CEEC-DDB8-E35F-1282-56BD50E14406}"/>
              </a:ext>
            </a:extLst>
          </p:cNvPr>
          <p:cNvSpPr/>
          <p:nvPr/>
        </p:nvSpPr>
        <p:spPr>
          <a:xfrm>
            <a:off x="2655468" y="1883370"/>
            <a:ext cx="106782" cy="456605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04305F79-90E1-06EE-6F67-C97914534F12}"/>
              </a:ext>
            </a:extLst>
          </p:cNvPr>
          <p:cNvSpPr/>
          <p:nvPr/>
        </p:nvSpPr>
        <p:spPr>
          <a:xfrm>
            <a:off x="3371850" y="1883370"/>
            <a:ext cx="125908" cy="456605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</a:t>
            </a:r>
            <a:r>
              <a:rPr lang="en-IN" dirty="0"/>
              <a:t>gonal</a:t>
            </a:r>
            <a:r>
              <a:rPr spc="80" dirty="0"/>
              <a:t> </a:t>
            </a:r>
            <a:r>
              <a:rPr spc="-1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803261"/>
            <a:ext cx="377634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177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01930" algn="l"/>
              </a:tabLst>
            </a:pPr>
            <a:r>
              <a:rPr sz="1100" dirty="0">
                <a:latin typeface="Tahoma"/>
                <a:cs typeface="Tahoma"/>
              </a:rPr>
              <a:t>Also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angle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x</a:t>
            </a:r>
            <a:r>
              <a:rPr sz="1050" spc="1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y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change </a:t>
            </a:r>
            <a:r>
              <a:rPr sz="1100" spc="-20" dirty="0">
                <a:latin typeface="Tahoma"/>
                <a:cs typeface="Tahoma"/>
              </a:rPr>
              <a:t>after</a:t>
            </a:r>
            <a:r>
              <a:rPr sz="1100" spc="-40" dirty="0">
                <a:latin typeface="Tahoma"/>
                <a:cs typeface="Tahoma"/>
              </a:rPr>
              <a:t> transformation</a:t>
            </a:r>
            <a:r>
              <a:rPr sz="1100" spc="-35" dirty="0">
                <a:latin typeface="Tahoma"/>
                <a:cs typeface="Tahoma"/>
              </a:rPr>
              <a:t>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</a:t>
            </a:r>
            <a:r>
              <a:rPr lang="en-IN" sz="1100" spc="-40" dirty="0">
                <a:latin typeface="Tahoma"/>
                <a:cs typeface="Tahoma"/>
              </a:rPr>
              <a:t>gonal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70" dirty="0">
                <a:latin typeface="Tahoma"/>
                <a:cs typeface="Tahoma"/>
              </a:rPr>
              <a:t>seen</a:t>
            </a:r>
            <a:r>
              <a:rPr sz="1100" spc="-20" dirty="0">
                <a:latin typeface="Tahoma"/>
                <a:cs typeface="Tahoma"/>
              </a:rPr>
              <a:t> as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follows: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1990" y="1513533"/>
            <a:ext cx="642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cos(</a:t>
            </a:r>
            <a:r>
              <a:rPr sz="1100" i="1" dirty="0">
                <a:latin typeface="Bookman Old Style"/>
                <a:cs typeface="Bookman Old Style"/>
              </a:rPr>
              <a:t>ω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4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70746" y="1627289"/>
            <a:ext cx="687705" cy="167640"/>
            <a:chOff x="2470746" y="1627289"/>
            <a:chExt cx="687705" cy="167640"/>
          </a:xfrm>
        </p:grpSpPr>
        <p:sp>
          <p:nvSpPr>
            <p:cNvPr id="6" name="object 6"/>
            <p:cNvSpPr/>
            <p:nvPr/>
          </p:nvSpPr>
          <p:spPr>
            <a:xfrm>
              <a:off x="2473604" y="1630146"/>
              <a:ext cx="681990" cy="0"/>
            </a:xfrm>
            <a:custGeom>
              <a:avLst/>
              <a:gdLst/>
              <a:ahLst/>
              <a:cxnLst/>
              <a:rect l="l" t="t" r="r" b="b"/>
              <a:pathLst>
                <a:path w="681989">
                  <a:moveTo>
                    <a:pt x="0" y="0"/>
                  </a:moveTo>
                  <a:lnTo>
                    <a:pt x="681609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9479" y="1655038"/>
              <a:ext cx="34925" cy="139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2603" y="1655038"/>
              <a:ext cx="34925" cy="139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0391" y="1655038"/>
              <a:ext cx="34925" cy="1397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80106" y="1393342"/>
            <a:ext cx="653415" cy="4064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1100" spc="10" dirty="0">
                <a:latin typeface="Tahoma"/>
                <a:cs typeface="Tahoma"/>
              </a:rPr>
              <a:t>(</a:t>
            </a:r>
            <a:r>
              <a:rPr sz="1050" spc="10" dirty="0">
                <a:latin typeface="Arial"/>
                <a:cs typeface="Arial"/>
              </a:rPr>
              <a:t>Ax</a:t>
            </a:r>
            <a:r>
              <a:rPr sz="1050" spc="-140" dirty="0">
                <a:latin typeface="Arial"/>
                <a:cs typeface="Arial"/>
              </a:rPr>
              <a:t> </a:t>
            </a:r>
            <a:r>
              <a:rPr sz="1100" spc="10" dirty="0">
                <a:latin typeface="Tahoma"/>
                <a:cs typeface="Tahoma"/>
              </a:rPr>
              <a:t>)</a:t>
            </a:r>
            <a:r>
              <a:rPr sz="1200" i="1" spc="15" baseline="27777" dirty="0">
                <a:latin typeface="Arial"/>
                <a:cs typeface="Arial"/>
              </a:rPr>
              <a:t>T</a:t>
            </a:r>
            <a:r>
              <a:rPr sz="1200" i="1" spc="22" baseline="27777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Ay</a:t>
            </a:r>
            <a:endParaRPr sz="1050">
              <a:latin typeface="Arial"/>
              <a:cs typeface="Arial"/>
            </a:endParaRPr>
          </a:p>
          <a:p>
            <a:pPr marL="62230">
              <a:lnSpc>
                <a:spcPct val="100000"/>
              </a:lnSpc>
              <a:spcBef>
                <a:spcPts val="215"/>
              </a:spcBef>
              <a:tabLst>
                <a:tab pos="423545" algn="l"/>
              </a:tabLst>
            </a:pPr>
            <a:r>
              <a:rPr sz="1050" spc="30" dirty="0">
                <a:latin typeface="Arial"/>
                <a:cs typeface="Arial"/>
              </a:rPr>
              <a:t>Ax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25" dirty="0">
                <a:latin typeface="Arial"/>
                <a:cs typeface="Arial"/>
              </a:rPr>
              <a:t>Ay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1822" y="1655038"/>
            <a:ext cx="34925" cy="1397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211438" y="1908110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73604" y="2021954"/>
            <a:ext cx="553085" cy="167640"/>
            <a:chOff x="2473604" y="2021954"/>
            <a:chExt cx="553085" cy="167640"/>
          </a:xfrm>
        </p:grpSpPr>
        <p:sp>
          <p:nvSpPr>
            <p:cNvPr id="14" name="object 14"/>
            <p:cNvSpPr/>
            <p:nvPr/>
          </p:nvSpPr>
          <p:spPr>
            <a:xfrm>
              <a:off x="2473604" y="2024722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500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4328" y="2049614"/>
              <a:ext cx="34925" cy="1397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5902" y="2049614"/>
              <a:ext cx="34925" cy="1397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3691" y="2049614"/>
              <a:ext cx="34925" cy="1397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7852" y="2049614"/>
              <a:ext cx="34925" cy="1397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211438" y="230268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70746" y="2416441"/>
            <a:ext cx="488950" cy="167640"/>
            <a:chOff x="2470746" y="2416441"/>
            <a:chExt cx="488950" cy="167640"/>
          </a:xfrm>
        </p:grpSpPr>
        <p:sp>
          <p:nvSpPr>
            <p:cNvPr id="21" name="object 21"/>
            <p:cNvSpPr/>
            <p:nvPr/>
          </p:nvSpPr>
          <p:spPr>
            <a:xfrm>
              <a:off x="2473604" y="2419299"/>
              <a:ext cx="483234" cy="0"/>
            </a:xfrm>
            <a:custGeom>
              <a:avLst/>
              <a:gdLst/>
              <a:ahLst/>
              <a:cxnLst/>
              <a:rect l="l" t="t" r="r" b="b"/>
              <a:pathLst>
                <a:path w="483235">
                  <a:moveTo>
                    <a:pt x="0" y="0"/>
                  </a:moveTo>
                  <a:lnTo>
                    <a:pt x="482803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9479" y="2444204"/>
              <a:ext cx="34925" cy="1397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1053" y="2444204"/>
              <a:ext cx="34925" cy="1397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8842" y="2444204"/>
              <a:ext cx="34925" cy="1397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410104" y="1791213"/>
            <a:ext cx="664210" cy="797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005" marR="55880" indent="-104139">
              <a:lnSpc>
                <a:spcPct val="118000"/>
              </a:lnSpc>
              <a:spcBef>
                <a:spcPts val="95"/>
              </a:spcBef>
              <a:tabLst>
                <a:tab pos="426720" algn="l"/>
              </a:tabLst>
            </a:pP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050" spc="85" dirty="0">
                <a:latin typeface="Arial"/>
                <a:cs typeface="Arial"/>
              </a:rPr>
              <a:t>A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Ay </a:t>
            </a:r>
            <a:r>
              <a:rPr sz="1050" spc="-50" dirty="0">
                <a:latin typeface="Arial"/>
                <a:cs typeface="Arial"/>
              </a:rPr>
              <a:t>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  <a:p>
            <a:pPr marL="132715" marR="194310" indent="41275">
              <a:lnSpc>
                <a:spcPct val="118000"/>
              </a:lnSpc>
              <a:spcBef>
                <a:spcPts val="135"/>
              </a:spcBef>
              <a:tabLst>
                <a:tab pos="391795" algn="l"/>
              </a:tabLst>
            </a:pPr>
            <a:r>
              <a:rPr sz="1050" dirty="0">
                <a:latin typeface="Arial"/>
                <a:cs typeface="Arial"/>
              </a:rPr>
              <a:t>x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y x</a:t>
            </a:r>
            <a:r>
              <a:rPr sz="1050" dirty="0">
                <a:latin typeface="Arial"/>
                <a:cs typeface="Arial"/>
              </a:rPr>
              <a:t>	</a:t>
            </a:r>
            <a:r>
              <a:rPr sz="1050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004" y="2444203"/>
            <a:ext cx="34925" cy="1397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Orthonormal</a:t>
            </a:r>
            <a:r>
              <a:rPr spc="80" dirty="0"/>
              <a:t> </a:t>
            </a:r>
            <a:r>
              <a:rPr spc="-10" dirty="0"/>
              <a:t>basis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707896"/>
            <a:ext cx="3912870" cy="21609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558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already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looked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space,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found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17" baseline="27777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basis vectors.</a:t>
            </a:r>
            <a:endParaRPr sz="1100">
              <a:latin typeface="Tahoma"/>
              <a:cs typeface="Tahoma"/>
            </a:endParaRPr>
          </a:p>
          <a:p>
            <a:pPr marL="240029" marR="10223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Our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needed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 </a:t>
            </a:r>
            <a:r>
              <a:rPr sz="1100" spc="-45" dirty="0">
                <a:latin typeface="Tahoma"/>
                <a:cs typeface="Tahoma"/>
              </a:rPr>
              <a:t>independent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we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ensure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independence</a:t>
            </a:r>
            <a:r>
              <a:rPr sz="1100" spc="-30" dirty="0">
                <a:latin typeface="Tahoma"/>
                <a:cs typeface="Tahoma"/>
              </a:rPr>
              <a:t>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ensuring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directions,</a:t>
            </a:r>
            <a:r>
              <a:rPr sz="1100" spc="-30" dirty="0">
                <a:latin typeface="Tahoma"/>
                <a:cs typeface="Tahoma"/>
              </a:rPr>
              <a:t> 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linear </a:t>
            </a:r>
            <a:r>
              <a:rPr sz="1100" spc="-30" dirty="0">
                <a:latin typeface="Tahoma"/>
                <a:cs typeface="Tahoma"/>
              </a:rPr>
              <a:t>combination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cancel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th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vector.</a:t>
            </a:r>
            <a:endParaRPr sz="1100">
              <a:latin typeface="Tahoma"/>
              <a:cs typeface="Tahoma"/>
            </a:endParaRPr>
          </a:p>
          <a:p>
            <a:pPr marL="240029" marR="5397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25" dirty="0">
                <a:latin typeface="Tahoma"/>
                <a:cs typeface="Tahoma"/>
              </a:rPr>
              <a:t>Now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will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look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special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case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basis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where</a:t>
            </a:r>
            <a:r>
              <a:rPr sz="1100" spc="-20" dirty="0">
                <a:latin typeface="Tahoma"/>
                <a:cs typeface="Tahoma"/>
              </a:rPr>
              <a:t> the</a:t>
            </a:r>
            <a:r>
              <a:rPr sz="1100" spc="-40" dirty="0">
                <a:latin typeface="Tahoma"/>
                <a:cs typeface="Tahoma"/>
              </a:rPr>
              <a:t> vectors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mutually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sense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 </a:t>
            </a:r>
            <a:r>
              <a:rPr sz="1100" spc="-10" dirty="0">
                <a:latin typeface="Tahoma"/>
                <a:cs typeface="Tahoma"/>
              </a:rPr>
              <a:t>product,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length.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call</a:t>
            </a:r>
            <a:r>
              <a:rPr sz="1100" spc="-45" dirty="0">
                <a:latin typeface="Tahoma"/>
                <a:cs typeface="Tahoma"/>
              </a:rPr>
              <a:t> such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Orthonormal</a:t>
            </a:r>
            <a:r>
              <a:rPr spc="80" dirty="0"/>
              <a:t> </a:t>
            </a:r>
            <a:r>
              <a:rPr spc="-10" dirty="0"/>
              <a:t>basis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903603"/>
            <a:ext cx="3881120" cy="1644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5588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30" dirty="0">
                <a:latin typeface="Tahoma"/>
                <a:cs typeface="Tahoma"/>
              </a:rPr>
              <a:t>Question: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you </a:t>
            </a:r>
            <a:r>
              <a:rPr sz="1100" spc="-35" dirty="0">
                <a:latin typeface="Tahoma"/>
                <a:cs typeface="Tahoma"/>
              </a:rPr>
              <a:t>immediately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think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?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unique?</a:t>
            </a:r>
            <a:endParaRPr sz="1100">
              <a:latin typeface="Tahoma"/>
              <a:cs typeface="Tahoma"/>
            </a:endParaRPr>
          </a:p>
          <a:p>
            <a:pPr marL="2406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40665" algn="l"/>
              </a:tabLst>
            </a:pPr>
            <a:r>
              <a:rPr sz="1100" spc="-25" dirty="0">
                <a:latin typeface="Tahoma"/>
                <a:cs typeface="Tahoma"/>
              </a:rPr>
              <a:t>Formal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</a:t>
            </a:r>
            <a:endParaRPr sz="1100">
              <a:latin typeface="Tahoma"/>
              <a:cs typeface="Tahoma"/>
            </a:endParaRPr>
          </a:p>
          <a:p>
            <a:pPr marL="240029">
              <a:lnSpc>
                <a:spcPct val="100000"/>
              </a:lnSpc>
              <a:spcBef>
                <a:spcPts val="30"/>
              </a:spcBef>
            </a:pPr>
            <a:r>
              <a:rPr sz="1100" i="1" spc="-45" dirty="0">
                <a:latin typeface="Arial"/>
                <a:cs typeface="Arial"/>
              </a:rPr>
              <a:t>n</a:t>
            </a:r>
            <a:r>
              <a:rPr sz="1100" spc="-45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space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vectors</a:t>
            </a:r>
            <a:endParaRPr sz="1100">
              <a:latin typeface="Tahoma"/>
              <a:cs typeface="Tahoma"/>
            </a:endParaRPr>
          </a:p>
          <a:p>
            <a:pPr marL="2400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{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40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  <a:p>
            <a:pPr marL="240029" marR="243204">
              <a:lnSpc>
                <a:spcPct val="102600"/>
              </a:lnSpc>
              <a:spcBef>
                <a:spcPts val="5"/>
              </a:spcBef>
            </a:pPr>
            <a:r>
              <a:rPr sz="1100" dirty="0">
                <a:latin typeface="Cambria"/>
                <a:cs typeface="Cambria"/>
              </a:rPr>
              <a:t>∀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</a:t>
            </a:r>
            <a:r>
              <a:rPr sz="1100" i="1" spc="-55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35" dirty="0">
                <a:latin typeface="Bookman Old Style"/>
                <a:cs typeface="Bookman Old Style"/>
              </a:rPr>
              <a:t>.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i="1" spc="-40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̸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⟨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Bookman Old Style"/>
                <a:cs typeface="Bookman Old Style"/>
              </a:rPr>
              <a:t>,</a:t>
            </a:r>
            <a:r>
              <a:rPr sz="1100" i="1" spc="-135" dirty="0">
                <a:latin typeface="Bookman Old Style"/>
                <a:cs typeface="Bookman Old Style"/>
              </a:rPr>
              <a:t> </a:t>
            </a:r>
            <a:r>
              <a:rPr sz="105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-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1,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basis.</a:t>
            </a:r>
            <a:endParaRPr sz="1100">
              <a:latin typeface="Tahoma"/>
              <a:cs typeface="Tahoma"/>
            </a:endParaRPr>
          </a:p>
          <a:p>
            <a:pPr marL="240029" marR="208279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basis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mutually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length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unity,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basis.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Gram-Schmidt Orthonormalization Method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922" y="1154113"/>
            <a:ext cx="2650808" cy="1908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92087" y="731521"/>
            <a:ext cx="3572828" cy="511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Given a </a:t>
            </a:r>
            <a:r>
              <a:rPr lang="en-US" sz="908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linarly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independent set {x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…. </a:t>
            </a:r>
            <a:r>
              <a:rPr lang="en-US" sz="908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</a:t>
            </a:r>
            <a:r>
              <a:rPr lang="en-US" sz="908" kern="1200" baseline="-250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 we have to find an orthonormal set {e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 such that span {x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x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…. </a:t>
            </a:r>
            <a:r>
              <a:rPr lang="en-US" sz="908" kern="12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x</a:t>
            </a:r>
            <a:r>
              <a:rPr lang="en-US" sz="908" kern="1200" baseline="-25000" dirty="0" err="1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 = span {e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, … e</a:t>
            </a:r>
            <a:r>
              <a:rPr lang="en-US" sz="908" kern="1200" baseline="-250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</a:t>
            </a:r>
            <a:r>
              <a:rPr lang="en-US" sz="908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} 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Gram-Schmidt </a:t>
            </a:r>
            <a:r>
              <a:rPr lang="en-US" dirty="0" err="1"/>
              <a:t>Orthonormalization</a:t>
            </a:r>
            <a:r>
              <a:rPr lang="en-US" dirty="0"/>
              <a:t> Method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923" y="769938"/>
            <a:ext cx="3303905" cy="246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E41DF7-6CDD-4B60-9B52-A436660D7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" y="892175"/>
            <a:ext cx="4148137" cy="9134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72EF0-52FE-4B8D-98FC-958DD0A697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EC352-F76D-4A3B-B785-8104B4221E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-3890" b="69146"/>
          <a:stretch/>
        </p:blipFill>
        <p:spPr>
          <a:xfrm>
            <a:off x="704850" y="1805589"/>
            <a:ext cx="1981200" cy="106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13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977795-CE5C-4426-8161-9394E8C7B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658" y="737419"/>
            <a:ext cx="1267965" cy="230105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0DB3E7-AD33-44D8-95FC-223ACBB7511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988" y="76200"/>
            <a:ext cx="3187700" cy="577850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9236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ABD823-2CA7-41C6-8A96-999E07363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886" r="-5556"/>
          <a:stretch/>
        </p:blipFill>
        <p:spPr>
          <a:xfrm>
            <a:off x="552450" y="968375"/>
            <a:ext cx="1447800" cy="217852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4E79F4-6919-4B89-8ED3-385532B12C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988" y="76200"/>
            <a:ext cx="3187700" cy="577850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96224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1803</TotalTime>
  <Words>4400</Words>
  <Application>Microsoft Office PowerPoint</Application>
  <PresentationFormat>Custom</PresentationFormat>
  <Paragraphs>357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64" baseType="lpstr">
      <vt:lpstr>Arial</vt:lpstr>
      <vt:lpstr>Bookman Old Style</vt:lpstr>
      <vt:lpstr>Calibri</vt:lpstr>
      <vt:lpstr>Cambria</vt:lpstr>
      <vt:lpstr>Cambria Math</vt:lpstr>
      <vt:lpstr>Century</vt:lpstr>
      <vt:lpstr>Lucida Sans Unicode</vt:lpstr>
      <vt:lpstr>Tahoma</vt:lpstr>
      <vt:lpstr>Tw Cen MT</vt:lpstr>
      <vt:lpstr>Tw Cen MT Condensed</vt:lpstr>
      <vt:lpstr>Verdana</vt:lpstr>
      <vt:lpstr>Wingdings</vt:lpstr>
      <vt:lpstr>Wingdings 3</vt:lpstr>
      <vt:lpstr>Office Theme</vt:lpstr>
      <vt:lpstr>Integral</vt:lpstr>
      <vt:lpstr>1_Office Theme</vt:lpstr>
      <vt:lpstr>PowerPoint Presentation</vt:lpstr>
      <vt:lpstr>PowerPoint Presentation</vt:lpstr>
      <vt:lpstr>Analytic geometry</vt:lpstr>
      <vt:lpstr>Motivation to study the distance between vectors </vt:lpstr>
      <vt:lpstr>The Data Matrix and Dissimilarity matrix</vt:lpstr>
      <vt:lpstr>Dissimilarity Matrix</vt:lpstr>
      <vt:lpstr>Dissimilarity Measures</vt:lpstr>
      <vt:lpstr>Example of a dissimilarity matrix with Euclidian distance</vt:lpstr>
      <vt:lpstr>Example of a dissimilarity matrix with Euclidian distance</vt:lpstr>
      <vt:lpstr>Example Ctd</vt:lpstr>
      <vt:lpstr>Dot product in Rn</vt:lpstr>
      <vt:lpstr>Definitions: Bilinear Mapping, Symmetric Mapping and Positive Definite Mapping</vt:lpstr>
      <vt:lpstr>Inner products</vt:lpstr>
      <vt:lpstr>Notation for coordinates</vt:lpstr>
      <vt:lpstr>Symmetric Matrices and Positive Definite Matrices</vt:lpstr>
      <vt:lpstr>Relooking at Dot Product in Rn</vt:lpstr>
      <vt:lpstr>Example</vt:lpstr>
      <vt:lpstr>Example(Ctd)</vt:lpstr>
      <vt:lpstr>PowerPoint Presentation</vt:lpstr>
      <vt:lpstr>Symmetric, positive-definite matrices</vt:lpstr>
      <vt:lpstr>Proof (Ctd)</vt:lpstr>
      <vt:lpstr>Proof (Ctd)</vt:lpstr>
      <vt:lpstr>Proof(Ctd)</vt:lpstr>
      <vt:lpstr>Proof(Ctd)</vt:lpstr>
      <vt:lpstr>PowerPoint Presentation</vt:lpstr>
      <vt:lpstr>PowerPoint Presentation</vt:lpstr>
      <vt:lpstr>PowerPoint Presentation</vt:lpstr>
      <vt:lpstr>Properties of Symmetric , Positive Definite Matrices</vt:lpstr>
      <vt:lpstr>Norms</vt:lpstr>
      <vt:lpstr>Norms and Inner Products</vt:lpstr>
      <vt:lpstr>Proof of Cauchy-Schwarz inequality</vt:lpstr>
      <vt:lpstr>Metric space</vt:lpstr>
      <vt:lpstr>Properties of a metric space</vt:lpstr>
      <vt:lpstr>Angles and orthogonality</vt:lpstr>
      <vt:lpstr>Angles and orthogonality</vt:lpstr>
      <vt:lpstr>Angles and orthogonality</vt:lpstr>
      <vt:lpstr>Angles and orthogonality</vt:lpstr>
      <vt:lpstr>Example - angles and orthogonality</vt:lpstr>
      <vt:lpstr>Orthogonal matrix</vt:lpstr>
      <vt:lpstr>Orthogonal matrix</vt:lpstr>
      <vt:lpstr>Orthogonal matrix</vt:lpstr>
      <vt:lpstr>Orthonormal basis</vt:lpstr>
      <vt:lpstr>Orthonormal basis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3</dc:title>
  <dc:creator>white Math Foundations Team</dc:creator>
  <cp:lastModifiedBy>HP</cp:lastModifiedBy>
  <cp:revision>47</cp:revision>
  <dcterms:created xsi:type="dcterms:W3CDTF">2025-05-10T06:51:23Z</dcterms:created>
  <dcterms:modified xsi:type="dcterms:W3CDTF">2025-10-29T05:50:47Z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2025-05-10T00:00:00Z</vt:filetime>
  </property>
  <property fmtid="{D5CDD505-2E9C-101B-9397-08002B2CF9AE}" pid="5" name="PTEX.Fullbanner">
    <vt:lpwstr>This is MiKTeX-pdfTeX 4.13.0 (1.40.24)</vt:lpwstr>
  </property>
  <property fmtid="{D5CDD505-2E9C-101B-9397-08002B2CF9AE}" pid="6" name="Producer">
    <vt:lpwstr>3-Heights(TM) PDF Security Shell 4.8.25.2 (http://www.pdf-tools.com)</vt:lpwstr>
  </property>
</Properties>
</file>